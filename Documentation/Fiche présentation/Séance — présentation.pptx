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en une phrase : l'app qui répond à « on regarde quoi, et où ? ». Même app sur iPhone, iPad, Mac et, depuis la version 4, Apple 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d'avant : chaque app ne connaît que son catalogue, et la télé et le NAS ne sont nulle part. Séance regarde tout en même temps, garde la soirée prête d'un jour sur l'autre, et le badge « où regarder » sert de bouton.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iPhone, iPad et Mac se synchronisent par un dossier d'iCloud Drive, un fichier par appareil, et depuis la 4.6 aussi par un dossier du NAS — c'est par là que l'Apple TV reçoit les listes, à la maison. Un code à six chiffres met en route un nouvel appareil.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patrick/Github/Seance/.build/plaquette/img/logo.png">    </p:cNvPr>
          <p:cNvPicPr>
            <a:picLocks noChangeAspect="1"/>
          </p:cNvPicPr>
          <p:nvPr/>
        </p:nvPicPr>
        <p:blipFill>
          <a:blip r:embed="rId2"/>
          <a:stretch>
            <a:fillRect/>
          </a:stretch>
        </p:blipFill>
        <p:spPr>
          <a:xfrm>
            <a:off x="502920" y="502920"/>
            <a:ext cx="3108960" cy="932688"/>
          </a:xfrm>
          <a:prstGeom prst="rect">
            <a:avLst/>
          </a:prstGeom>
        </p:spPr>
      </p:pic>
      <p:sp>
        <p:nvSpPr>
          <p:cNvPr id="3" name="Text 0"/>
          <p:cNvSpPr txBox="1"/>
          <p:nvPr/>
        </p:nvSpPr>
        <p:spPr>
          <a:xfrm>
            <a:off x="640080" y="1874520"/>
            <a:ext cx="5212080" cy="210312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Ce soir, tu sais quoi regarder. Et où.</a:t>
            </a:r>
            <a:endParaRPr lang="en-US" sz="4200" dirty="0"/>
          </a:p>
        </p:txBody>
      </p:sp>
      <p:sp>
        <p:nvSpPr>
          <p:cNvPr id="4" name="Text 1"/>
          <p:cNvSpPr txBox="1"/>
          <p:nvPr/>
        </p:nvSpPr>
        <p:spPr>
          <a:xfrm>
            <a:off x="640080" y="4069080"/>
            <a:ext cx="4937760" cy="914400"/>
          </a:xfrm>
          <a:prstGeom prst="rect">
            <a:avLst/>
          </a:prstGeom>
          <a:noFill/>
          <a:ln/>
        </p:spPr>
        <p:txBody>
          <a:bodyPr wrap="square" lIns="0" tIns="0" rIns="0" bIns="0" rtlCol="0" anchor="t"/>
          <a:lstStyle/>
          <a:p>
            <a:pPr indent="0" marL="0">
              <a:buNone/>
            </a:pPr>
            <a:r>
              <a:rPr lang="en-US" sz="1700" dirty="0">
                <a:solidFill>
                  <a:srgbClr val="A4A4B2"/>
                </a:solidFill>
                <a:latin typeface="Arial" pitchFamily="34" charset="0"/>
                <a:ea typeface="Arial" pitchFamily="34" charset="-122"/>
                <a:cs typeface="Arial" pitchFamily="34" charset="-120"/>
              </a:rPr>
              <a:t>Tes plateformes, le programme télé et les films de ton NAS, enfin réunis — sur tous tes écrans Apple.</a:t>
            </a:r>
            <a:endParaRPr lang="en-US" sz="1700" dirty="0"/>
          </a:p>
        </p:txBody>
      </p:sp>
      <p:sp>
        <p:nvSpPr>
          <p:cNvPr id="5" name="Shape 2"/>
          <p:cNvSpPr/>
          <p:nvPr/>
        </p:nvSpPr>
        <p:spPr>
          <a:xfrm>
            <a:off x="640080" y="5349240"/>
            <a:ext cx="1143000" cy="384048"/>
          </a:xfrm>
          <a:prstGeom prst="roundRect">
            <a:avLst>
              <a:gd name="adj" fmla="val 50000"/>
            </a:avLst>
          </a:prstGeom>
          <a:solidFill>
            <a:srgbClr val="1F1F27"/>
          </a:solidFill>
          <a:ln w="9525">
            <a:solidFill>
              <a:srgbClr val="2E2E38"/>
            </a:solidFill>
            <a:prstDash val="solid"/>
          </a:ln>
        </p:spPr>
      </p:sp>
      <p:sp>
        <p:nvSpPr>
          <p:cNvPr id="6" name="Text 3"/>
          <p:cNvSpPr txBox="1"/>
          <p:nvPr/>
        </p:nvSpPr>
        <p:spPr>
          <a:xfrm>
            <a:off x="640080" y="534924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iPhone</a:t>
            </a:r>
            <a:endParaRPr lang="en-US" sz="1200" dirty="0"/>
          </a:p>
        </p:txBody>
      </p:sp>
      <p:sp>
        <p:nvSpPr>
          <p:cNvPr id="7" name="Shape 4"/>
          <p:cNvSpPr/>
          <p:nvPr/>
        </p:nvSpPr>
        <p:spPr>
          <a:xfrm>
            <a:off x="1901952" y="5349240"/>
            <a:ext cx="1143000" cy="384048"/>
          </a:xfrm>
          <a:prstGeom prst="roundRect">
            <a:avLst>
              <a:gd name="adj" fmla="val 50000"/>
            </a:avLst>
          </a:prstGeom>
          <a:solidFill>
            <a:srgbClr val="1F1F27"/>
          </a:solidFill>
          <a:ln w="9525">
            <a:solidFill>
              <a:srgbClr val="2E2E38"/>
            </a:solidFill>
            <a:prstDash val="solid"/>
          </a:ln>
        </p:spPr>
      </p:sp>
      <p:sp>
        <p:nvSpPr>
          <p:cNvPr id="8" name="Text 5"/>
          <p:cNvSpPr txBox="1"/>
          <p:nvPr/>
        </p:nvSpPr>
        <p:spPr>
          <a:xfrm>
            <a:off x="1901952" y="534924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iPad</a:t>
            </a:r>
            <a:endParaRPr lang="en-US" sz="1200" dirty="0"/>
          </a:p>
        </p:txBody>
      </p:sp>
      <p:sp>
        <p:nvSpPr>
          <p:cNvPr id="9" name="Shape 6"/>
          <p:cNvSpPr/>
          <p:nvPr/>
        </p:nvSpPr>
        <p:spPr>
          <a:xfrm>
            <a:off x="3163824" y="5349240"/>
            <a:ext cx="1143000" cy="384048"/>
          </a:xfrm>
          <a:prstGeom prst="roundRect">
            <a:avLst>
              <a:gd name="adj" fmla="val 50000"/>
            </a:avLst>
          </a:prstGeom>
          <a:solidFill>
            <a:srgbClr val="1F1F27"/>
          </a:solidFill>
          <a:ln w="9525">
            <a:solidFill>
              <a:srgbClr val="2E2E38"/>
            </a:solidFill>
            <a:prstDash val="solid"/>
          </a:ln>
        </p:spPr>
      </p:sp>
      <p:sp>
        <p:nvSpPr>
          <p:cNvPr id="10" name="Text 7"/>
          <p:cNvSpPr txBox="1"/>
          <p:nvPr/>
        </p:nvSpPr>
        <p:spPr>
          <a:xfrm>
            <a:off x="3163824" y="5349240"/>
            <a:ext cx="1143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Mac</a:t>
            </a:r>
            <a:endParaRPr lang="en-US" sz="1200" dirty="0"/>
          </a:p>
        </p:txBody>
      </p:sp>
      <p:sp>
        <p:nvSpPr>
          <p:cNvPr id="11" name="Shape 8"/>
          <p:cNvSpPr/>
          <p:nvPr/>
        </p:nvSpPr>
        <p:spPr>
          <a:xfrm>
            <a:off x="4425696" y="5349240"/>
            <a:ext cx="1143000" cy="384048"/>
          </a:xfrm>
          <a:prstGeom prst="roundRect">
            <a:avLst>
              <a:gd name="adj" fmla="val 50000"/>
            </a:avLst>
          </a:prstGeom>
          <a:solidFill>
            <a:srgbClr val="FF7A3D"/>
          </a:solidFill>
          <a:ln w="9525">
            <a:solidFill>
              <a:srgbClr val="FF7A3D"/>
            </a:solidFill>
            <a:prstDash val="solid"/>
          </a:ln>
        </p:spPr>
      </p:sp>
      <p:sp>
        <p:nvSpPr>
          <p:cNvPr id="12" name="Text 9"/>
          <p:cNvSpPr txBox="1"/>
          <p:nvPr/>
        </p:nvSpPr>
        <p:spPr>
          <a:xfrm>
            <a:off x="4425696" y="5349240"/>
            <a:ext cx="1143000" cy="384048"/>
          </a:xfrm>
          <a:prstGeom prst="rect">
            <a:avLst/>
          </a:prstGeom>
          <a:noFill/>
          <a:ln/>
        </p:spPr>
        <p:txBody>
          <a:bodyPr wrap="square" lIns="0" tIns="0" rIns="0" bIns="0" rtlCol="0" anchor="ctr"/>
          <a:lstStyle/>
          <a:p>
            <a:pPr algn="ctr" indent="0" marL="0">
              <a:buNone/>
            </a:pPr>
            <a:r>
              <a:rPr lang="en-US" sz="1200" b="1" dirty="0">
                <a:solidFill>
                  <a:srgbClr val="1A0D05"/>
                </a:solidFill>
                <a:latin typeface="Arial" pitchFamily="34" charset="0"/>
                <a:ea typeface="Arial" pitchFamily="34" charset="-122"/>
                <a:cs typeface="Arial" pitchFamily="34" charset="-120"/>
              </a:rPr>
              <a:t>Apple TV</a:t>
            </a:r>
            <a:endParaRPr lang="en-US" sz="1200" dirty="0"/>
          </a:p>
        </p:txBody>
      </p:sp>
      <p:sp>
        <p:nvSpPr>
          <p:cNvPr id="13" name="Text 10"/>
          <p:cNvSpPr txBox="1"/>
          <p:nvPr/>
        </p:nvSpPr>
        <p:spPr>
          <a:xfrm>
            <a:off x="640080" y="5897880"/>
            <a:ext cx="4937760" cy="2743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Version 4.6 · septembre 2026</a:t>
            </a:r>
            <a:endParaRPr lang="en-US" sz="1200" dirty="0"/>
          </a:p>
        </p:txBody>
      </p:sp>
      <p:pic>
        <p:nvPicPr>
          <p:cNvPr id="14" name="Image 1" descr="/Users/patrick/Github/Seance/.build/presentation/tmp/ipad.png">    </p:cNvPr>
          <p:cNvPicPr>
            <a:picLocks noChangeAspect="1"/>
          </p:cNvPicPr>
          <p:nvPr/>
        </p:nvPicPr>
        <p:blipFill>
          <a:blip r:embed="rId3"/>
          <a:stretch>
            <a:fillRect/>
          </a:stretch>
        </p:blipFill>
        <p:spPr>
          <a:xfrm>
            <a:off x="5989320" y="1143000"/>
            <a:ext cx="5577840" cy="3952450"/>
          </a:xfrm>
          <a:prstGeom prst="rect">
            <a:avLst/>
          </a:prstGeom>
        </p:spPr>
      </p:pic>
      <p:pic>
        <p:nvPicPr>
          <p:cNvPr id="15" name="Image 2" descr="/Users/patrick/Github/Seance/.build/presentation/tmp/tel-cesoir.png">    </p:cNvPr>
          <p:cNvPicPr>
            <a:picLocks noChangeAspect="1"/>
          </p:cNvPicPr>
          <p:nvPr/>
        </p:nvPicPr>
        <p:blipFill>
          <a:blip r:embed="rId4"/>
          <a:stretch>
            <a:fillRect/>
          </a:stretch>
        </p:blipFill>
        <p:spPr>
          <a:xfrm>
            <a:off x="9646920" y="2148840"/>
            <a:ext cx="1965052" cy="4160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AVANT / APRÈS</a:t>
            </a:r>
            <a:endParaRPr lang="en-US" sz="1200" dirty="0"/>
          </a:p>
        </p:txBody>
      </p:sp>
      <p:sp>
        <p:nvSpPr>
          <p:cNvPr id="3" name="Text 1"/>
          <p:cNvSpPr txBox="1"/>
          <p:nvPr/>
        </p:nvSpPr>
        <p:spPr>
          <a:xfrm>
            <a:off x="640080" y="822960"/>
            <a:ext cx="10972800" cy="6400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Le même samedi soir, en deux versions.</a:t>
            </a:r>
            <a:endParaRPr lang="en-US" sz="3400" dirty="0"/>
          </a:p>
        </p:txBody>
      </p:sp>
      <p:sp>
        <p:nvSpPr>
          <p:cNvPr id="4" name="Shape 2"/>
          <p:cNvSpPr/>
          <p:nvPr/>
        </p:nvSpPr>
        <p:spPr>
          <a:xfrm>
            <a:off x="640080" y="1627632"/>
            <a:ext cx="10908792" cy="2240280"/>
          </a:xfrm>
          <a:prstGeom prst="roundRect">
            <a:avLst>
              <a:gd name="adj" fmla="val 6531"/>
            </a:avLst>
          </a:prstGeom>
          <a:solidFill>
            <a:srgbClr val="16161C"/>
          </a:solidFill>
          <a:ln w="9525">
            <a:solidFill>
              <a:srgbClr val="2E2E38"/>
            </a:solidFill>
            <a:prstDash val="solid"/>
          </a:ln>
        </p:spPr>
      </p:sp>
      <p:sp>
        <p:nvSpPr>
          <p:cNvPr id="5" name="Shape 3"/>
          <p:cNvSpPr/>
          <p:nvPr/>
        </p:nvSpPr>
        <p:spPr>
          <a:xfrm>
            <a:off x="868680" y="1755648"/>
            <a:ext cx="1417320" cy="384048"/>
          </a:xfrm>
          <a:prstGeom prst="roundRect">
            <a:avLst>
              <a:gd name="adj" fmla="val 50000"/>
            </a:avLst>
          </a:prstGeom>
          <a:solidFill>
            <a:srgbClr val="1F1F27"/>
          </a:solidFill>
          <a:ln w="9525">
            <a:solidFill>
              <a:srgbClr val="2E2E38"/>
            </a:solidFill>
            <a:prstDash val="solid"/>
          </a:ln>
        </p:spPr>
      </p:sp>
      <p:sp>
        <p:nvSpPr>
          <p:cNvPr id="6" name="Text 4"/>
          <p:cNvSpPr txBox="1"/>
          <p:nvPr/>
        </p:nvSpPr>
        <p:spPr>
          <a:xfrm>
            <a:off x="868680" y="175564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SANS SÉANCE</a:t>
            </a:r>
            <a:endParaRPr lang="en-US" sz="1200" dirty="0"/>
          </a:p>
        </p:txBody>
      </p:sp>
      <p:sp>
        <p:nvSpPr>
          <p:cNvPr id="7" name="Text 5"/>
          <p:cNvSpPr txBox="1"/>
          <p:nvPr/>
        </p:nvSpPr>
        <p:spPr>
          <a:xfrm>
            <a:off x="2468880" y="1810512"/>
            <a:ext cx="6858000" cy="310896"/>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Cinq apps, trente-cinq minutes, et toujours rien à regarder.</a:t>
            </a:r>
            <a:endParaRPr lang="en-US" sz="1600" dirty="0"/>
          </a:p>
        </p:txBody>
      </p:sp>
      <p:sp>
        <p:nvSpPr>
          <p:cNvPr id="8" name="Text 6"/>
          <p:cNvSpPr txBox="1"/>
          <p:nvPr/>
        </p:nvSpPr>
        <p:spPr>
          <a:xfrm>
            <a:off x="868680" y="2267712"/>
            <a:ext cx="914400" cy="237744"/>
          </a:xfrm>
          <a:prstGeom prst="rect">
            <a:avLst/>
          </a:prstGeom>
          <a:noFill/>
          <a:ln/>
        </p:spPr>
        <p:txBody>
          <a:bodyPr wrap="square" lIns="0" tIns="0" rIns="0" bIns="0" rtlCol="0" anchor="t"/>
          <a:lstStyle/>
          <a:p>
            <a:pPr indent="0" marL="0">
              <a:buNone/>
            </a:pPr>
            <a:r>
              <a:rPr lang="en-US" sz="1200" b="1" dirty="0">
                <a:solidFill>
                  <a:srgbClr val="A4A4B2"/>
                </a:solidFill>
                <a:latin typeface="Arial" pitchFamily="34" charset="0"/>
                <a:ea typeface="Arial" pitchFamily="34" charset="-122"/>
                <a:cs typeface="Arial" pitchFamily="34" charset="-120"/>
              </a:rPr>
              <a:t>20:10</a:t>
            </a:r>
            <a:endParaRPr lang="en-US" sz="1200" dirty="0"/>
          </a:p>
        </p:txBody>
      </p:sp>
      <p:sp>
        <p:nvSpPr>
          <p:cNvPr id="9" name="Text 7"/>
          <p:cNvSpPr txBox="1"/>
          <p:nvPr/>
        </p:nvSpPr>
        <p:spPr>
          <a:xfrm>
            <a:off x="868680" y="2468880"/>
            <a:ext cx="1097280" cy="237744"/>
          </a:xfrm>
          <a:prstGeom prst="rect">
            <a:avLst/>
          </a:prstGeom>
          <a:noFill/>
          <a:ln/>
        </p:spPr>
        <p:txBody>
          <a:bodyPr wrap="square" lIns="0" tIns="0" rIns="0" bIns="0" rtlCol="0" anchor="t"/>
          <a:lstStyle/>
          <a:p>
            <a:pPr indent="0" marL="0">
              <a:buNone/>
            </a:pPr>
            <a:r>
              <a:rPr lang="en-US" sz="1100" dirty="0">
                <a:solidFill>
                  <a:srgbClr val="6E6E7C"/>
                </a:solidFill>
                <a:latin typeface="Arial" pitchFamily="34" charset="0"/>
                <a:ea typeface="Arial" pitchFamily="34" charset="-122"/>
                <a:cs typeface="Arial" pitchFamily="34" charset="-120"/>
              </a:rPr>
              <a:t>on s’installe</a:t>
            </a:r>
            <a:endParaRPr lang="en-US" sz="1100" dirty="0"/>
          </a:p>
        </p:txBody>
      </p:sp>
      <p:sp>
        <p:nvSpPr>
          <p:cNvPr id="10" name="Shape 8"/>
          <p:cNvSpPr/>
          <p:nvPr/>
        </p:nvSpPr>
        <p:spPr>
          <a:xfrm>
            <a:off x="914400" y="2816352"/>
            <a:ext cx="8412480" cy="0"/>
          </a:xfrm>
          <a:prstGeom prst="line">
            <a:avLst/>
          </a:prstGeom>
          <a:noFill/>
          <a:ln w="25400">
            <a:solidFill>
              <a:srgbClr val="3D3D48"/>
            </a:solidFill>
            <a:prstDash val="solid"/>
            <a:tailEnd type="triangle"/>
          </a:ln>
        </p:spPr>
      </p:sp>
      <p:sp>
        <p:nvSpPr>
          <p:cNvPr id="11" name="Shape 9"/>
          <p:cNvSpPr/>
          <p:nvPr/>
        </p:nvSpPr>
        <p:spPr>
          <a:xfrm>
            <a:off x="1760220" y="2747772"/>
            <a:ext cx="137160" cy="137160"/>
          </a:xfrm>
          <a:prstGeom prst="ellipse">
            <a:avLst/>
          </a:prstGeom>
          <a:solidFill>
            <a:srgbClr val="20202A"/>
          </a:solidFill>
          <a:ln w="19050">
            <a:solidFill>
              <a:srgbClr val="5A5A68"/>
            </a:solidFill>
            <a:prstDash val="solid"/>
          </a:ln>
        </p:spPr>
      </p:sp>
      <p:sp>
        <p:nvSpPr>
          <p:cNvPr id="12" name="Shape 10"/>
          <p:cNvSpPr/>
          <p:nvPr/>
        </p:nvSpPr>
        <p:spPr>
          <a:xfrm>
            <a:off x="1828800" y="2889504"/>
            <a:ext cx="0" cy="182880"/>
          </a:xfrm>
          <a:prstGeom prst="line">
            <a:avLst/>
          </a:prstGeom>
          <a:noFill/>
          <a:ln w="12700">
            <a:solidFill>
              <a:srgbClr val="3D3D48"/>
            </a:solidFill>
            <a:prstDash val="solid"/>
          </a:ln>
        </p:spPr>
      </p:sp>
      <p:sp>
        <p:nvSpPr>
          <p:cNvPr id="13" name="Text 11"/>
          <p:cNvSpPr txBox="1"/>
          <p:nvPr/>
        </p:nvSpPr>
        <p:spPr>
          <a:xfrm>
            <a:off x="1051560" y="3108960"/>
            <a:ext cx="155448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Netflix</a:t>
            </a:r>
            <a:endParaRPr lang="en-US" sz="1200" dirty="0"/>
          </a:p>
        </p:txBody>
      </p:sp>
      <p:sp>
        <p:nvSpPr>
          <p:cNvPr id="14" name="Text 12"/>
          <p:cNvSpPr txBox="1"/>
          <p:nvPr/>
        </p:nvSpPr>
        <p:spPr>
          <a:xfrm>
            <a:off x="1051560" y="332841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rien qui me</a:t>
            </a:r>
            <a:endParaRPr lang="en-US" sz="1000" dirty="0"/>
          </a:p>
        </p:txBody>
      </p:sp>
      <p:sp>
        <p:nvSpPr>
          <p:cNvPr id="15" name="Text 13"/>
          <p:cNvSpPr txBox="1"/>
          <p:nvPr/>
        </p:nvSpPr>
        <p:spPr>
          <a:xfrm>
            <a:off x="1051560" y="351129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tente ce soir</a:t>
            </a:r>
            <a:endParaRPr lang="en-US" sz="1000" dirty="0"/>
          </a:p>
        </p:txBody>
      </p:sp>
      <p:sp>
        <p:nvSpPr>
          <p:cNvPr id="16" name="Shape 14"/>
          <p:cNvSpPr/>
          <p:nvPr/>
        </p:nvSpPr>
        <p:spPr>
          <a:xfrm>
            <a:off x="3424428" y="2747772"/>
            <a:ext cx="137160" cy="137160"/>
          </a:xfrm>
          <a:prstGeom prst="ellipse">
            <a:avLst/>
          </a:prstGeom>
          <a:solidFill>
            <a:srgbClr val="20202A"/>
          </a:solidFill>
          <a:ln w="19050">
            <a:solidFill>
              <a:srgbClr val="5A5A68"/>
            </a:solidFill>
            <a:prstDash val="solid"/>
          </a:ln>
        </p:spPr>
      </p:sp>
      <p:sp>
        <p:nvSpPr>
          <p:cNvPr id="17" name="Shape 15"/>
          <p:cNvSpPr/>
          <p:nvPr/>
        </p:nvSpPr>
        <p:spPr>
          <a:xfrm>
            <a:off x="3493008" y="2889504"/>
            <a:ext cx="0" cy="182880"/>
          </a:xfrm>
          <a:prstGeom prst="line">
            <a:avLst/>
          </a:prstGeom>
          <a:noFill/>
          <a:ln w="12700">
            <a:solidFill>
              <a:srgbClr val="3D3D48"/>
            </a:solidFill>
            <a:prstDash val="solid"/>
          </a:ln>
        </p:spPr>
      </p:sp>
      <p:sp>
        <p:nvSpPr>
          <p:cNvPr id="18" name="Text 16"/>
          <p:cNvSpPr txBox="1"/>
          <p:nvPr/>
        </p:nvSpPr>
        <p:spPr>
          <a:xfrm>
            <a:off x="2715768" y="3108960"/>
            <a:ext cx="155448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Prime Video</a:t>
            </a:r>
            <a:endParaRPr lang="en-US" sz="1200" dirty="0"/>
          </a:p>
        </p:txBody>
      </p:sp>
      <p:sp>
        <p:nvSpPr>
          <p:cNvPr id="19" name="Text 17"/>
          <p:cNvSpPr txBox="1"/>
          <p:nvPr/>
        </p:nvSpPr>
        <p:spPr>
          <a:xfrm>
            <a:off x="2715768" y="332841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déjà vu</a:t>
            </a:r>
            <a:endParaRPr lang="en-US" sz="1000" dirty="0"/>
          </a:p>
        </p:txBody>
      </p:sp>
      <p:sp>
        <p:nvSpPr>
          <p:cNvPr id="20" name="Text 18"/>
          <p:cNvSpPr txBox="1"/>
          <p:nvPr/>
        </p:nvSpPr>
        <p:spPr>
          <a:xfrm>
            <a:off x="2715768" y="351129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l’an dernier</a:t>
            </a:r>
            <a:endParaRPr lang="en-US" sz="1000" dirty="0"/>
          </a:p>
        </p:txBody>
      </p:sp>
      <p:sp>
        <p:nvSpPr>
          <p:cNvPr id="21" name="Shape 19"/>
          <p:cNvSpPr/>
          <p:nvPr/>
        </p:nvSpPr>
        <p:spPr>
          <a:xfrm>
            <a:off x="5088636" y="2747772"/>
            <a:ext cx="137160" cy="137160"/>
          </a:xfrm>
          <a:prstGeom prst="ellipse">
            <a:avLst/>
          </a:prstGeom>
          <a:solidFill>
            <a:srgbClr val="20202A"/>
          </a:solidFill>
          <a:ln w="19050">
            <a:solidFill>
              <a:srgbClr val="5A5A68"/>
            </a:solidFill>
            <a:prstDash val="solid"/>
          </a:ln>
        </p:spPr>
      </p:sp>
      <p:sp>
        <p:nvSpPr>
          <p:cNvPr id="22" name="Shape 20"/>
          <p:cNvSpPr/>
          <p:nvPr/>
        </p:nvSpPr>
        <p:spPr>
          <a:xfrm>
            <a:off x="5157216" y="2889504"/>
            <a:ext cx="0" cy="182880"/>
          </a:xfrm>
          <a:prstGeom prst="line">
            <a:avLst/>
          </a:prstGeom>
          <a:noFill/>
          <a:ln w="12700">
            <a:solidFill>
              <a:srgbClr val="3D3D48"/>
            </a:solidFill>
            <a:prstDash val="solid"/>
          </a:ln>
        </p:spPr>
      </p:sp>
      <p:sp>
        <p:nvSpPr>
          <p:cNvPr id="23" name="Text 21"/>
          <p:cNvSpPr txBox="1"/>
          <p:nvPr/>
        </p:nvSpPr>
        <p:spPr>
          <a:xfrm>
            <a:off x="4379976" y="3108960"/>
            <a:ext cx="155448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Disney+</a:t>
            </a:r>
            <a:endParaRPr lang="en-US" sz="1200" dirty="0"/>
          </a:p>
        </p:txBody>
      </p:sp>
      <p:sp>
        <p:nvSpPr>
          <p:cNvPr id="24" name="Text 22"/>
          <p:cNvSpPr txBox="1"/>
          <p:nvPr/>
        </p:nvSpPr>
        <p:spPr>
          <a:xfrm>
            <a:off x="4379976" y="332841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pas abonné</a:t>
            </a:r>
            <a:endParaRPr lang="en-US" sz="1000" dirty="0"/>
          </a:p>
        </p:txBody>
      </p:sp>
      <p:sp>
        <p:nvSpPr>
          <p:cNvPr id="25" name="Text 23"/>
          <p:cNvSpPr txBox="1"/>
          <p:nvPr/>
        </p:nvSpPr>
        <p:spPr>
          <a:xfrm>
            <a:off x="4379976" y="351129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à celle-là</a:t>
            </a:r>
            <a:endParaRPr lang="en-US" sz="1000" dirty="0"/>
          </a:p>
        </p:txBody>
      </p:sp>
      <p:sp>
        <p:nvSpPr>
          <p:cNvPr id="26" name="Shape 24"/>
          <p:cNvSpPr/>
          <p:nvPr/>
        </p:nvSpPr>
        <p:spPr>
          <a:xfrm>
            <a:off x="6752844" y="2747772"/>
            <a:ext cx="137160" cy="137160"/>
          </a:xfrm>
          <a:prstGeom prst="ellipse">
            <a:avLst/>
          </a:prstGeom>
          <a:solidFill>
            <a:srgbClr val="20202A"/>
          </a:solidFill>
          <a:ln w="19050">
            <a:solidFill>
              <a:srgbClr val="5A5A68"/>
            </a:solidFill>
            <a:prstDash val="solid"/>
          </a:ln>
        </p:spPr>
      </p:sp>
      <p:sp>
        <p:nvSpPr>
          <p:cNvPr id="27" name="Shape 25"/>
          <p:cNvSpPr/>
          <p:nvPr/>
        </p:nvSpPr>
        <p:spPr>
          <a:xfrm>
            <a:off x="6821424" y="2889504"/>
            <a:ext cx="0" cy="182880"/>
          </a:xfrm>
          <a:prstGeom prst="line">
            <a:avLst/>
          </a:prstGeom>
          <a:noFill/>
          <a:ln w="12700">
            <a:solidFill>
              <a:srgbClr val="3D3D48"/>
            </a:solidFill>
            <a:prstDash val="solid"/>
          </a:ln>
        </p:spPr>
      </p:sp>
      <p:sp>
        <p:nvSpPr>
          <p:cNvPr id="28" name="Text 26"/>
          <p:cNvSpPr txBox="1"/>
          <p:nvPr/>
        </p:nvSpPr>
        <p:spPr>
          <a:xfrm>
            <a:off x="6044184" y="3108960"/>
            <a:ext cx="155448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 magazine télé</a:t>
            </a:r>
            <a:endParaRPr lang="en-US" sz="1200" dirty="0"/>
          </a:p>
        </p:txBody>
      </p:sp>
      <p:sp>
        <p:nvSpPr>
          <p:cNvPr id="29" name="Text 27"/>
          <p:cNvSpPr txBox="1"/>
          <p:nvPr/>
        </p:nvSpPr>
        <p:spPr>
          <a:xfrm>
            <a:off x="6044184" y="332841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le film a commencé</a:t>
            </a:r>
            <a:endParaRPr lang="en-US" sz="1000" dirty="0"/>
          </a:p>
        </p:txBody>
      </p:sp>
      <p:sp>
        <p:nvSpPr>
          <p:cNvPr id="30" name="Text 28"/>
          <p:cNvSpPr txBox="1"/>
          <p:nvPr/>
        </p:nvSpPr>
        <p:spPr>
          <a:xfrm>
            <a:off x="6044184" y="351129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à 20:30</a:t>
            </a:r>
            <a:endParaRPr lang="en-US" sz="1000" dirty="0"/>
          </a:p>
        </p:txBody>
      </p:sp>
      <p:sp>
        <p:nvSpPr>
          <p:cNvPr id="31" name="Shape 29"/>
          <p:cNvSpPr/>
          <p:nvPr/>
        </p:nvSpPr>
        <p:spPr>
          <a:xfrm>
            <a:off x="8417052" y="2747772"/>
            <a:ext cx="137160" cy="137160"/>
          </a:xfrm>
          <a:prstGeom prst="ellipse">
            <a:avLst/>
          </a:prstGeom>
          <a:solidFill>
            <a:srgbClr val="20202A"/>
          </a:solidFill>
          <a:ln w="19050">
            <a:solidFill>
              <a:srgbClr val="5A5A68"/>
            </a:solidFill>
            <a:prstDash val="solid"/>
          </a:ln>
        </p:spPr>
      </p:sp>
      <p:sp>
        <p:nvSpPr>
          <p:cNvPr id="32" name="Shape 30"/>
          <p:cNvSpPr/>
          <p:nvPr/>
        </p:nvSpPr>
        <p:spPr>
          <a:xfrm>
            <a:off x="8485632" y="2889504"/>
            <a:ext cx="0" cy="182880"/>
          </a:xfrm>
          <a:prstGeom prst="line">
            <a:avLst/>
          </a:prstGeom>
          <a:noFill/>
          <a:ln w="12700">
            <a:solidFill>
              <a:srgbClr val="3D3D48"/>
            </a:solidFill>
            <a:prstDash val="solid"/>
          </a:ln>
        </p:spPr>
      </p:sp>
      <p:sp>
        <p:nvSpPr>
          <p:cNvPr id="33" name="Text 31"/>
          <p:cNvSpPr txBox="1"/>
          <p:nvPr/>
        </p:nvSpPr>
        <p:spPr>
          <a:xfrm>
            <a:off x="7708392" y="3108960"/>
            <a:ext cx="155448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 NAS</a:t>
            </a:r>
            <a:endParaRPr lang="en-US" sz="1200" dirty="0"/>
          </a:p>
        </p:txBody>
      </p:sp>
      <p:sp>
        <p:nvSpPr>
          <p:cNvPr id="34" name="Text 32"/>
          <p:cNvSpPr txBox="1"/>
          <p:nvPr/>
        </p:nvSpPr>
        <p:spPr>
          <a:xfrm>
            <a:off x="7708392" y="332841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Film.2019.1080p</a:t>
            </a:r>
            <a:endParaRPr lang="en-US" sz="1000" dirty="0"/>
          </a:p>
        </p:txBody>
      </p:sp>
      <p:sp>
        <p:nvSpPr>
          <p:cNvPr id="35" name="Text 33"/>
          <p:cNvSpPr txBox="1"/>
          <p:nvPr/>
        </p:nvSpPr>
        <p:spPr>
          <a:xfrm>
            <a:off x="7708392" y="3511296"/>
            <a:ext cx="1554480" cy="219456"/>
          </a:xfrm>
          <a:prstGeom prst="rect">
            <a:avLst/>
          </a:prstGeom>
          <a:noFill/>
          <a:ln/>
        </p:spPr>
        <p:txBody>
          <a:bodyPr wrap="square" lIns="0" tIns="0" rIns="0" bIns="0" rtlCol="0" anchor="t"/>
          <a:lstStyle/>
          <a:p>
            <a:pPr algn="ctr" indent="0" marL="0">
              <a:buNone/>
            </a:pPr>
            <a:r>
              <a:rPr lang="en-US" sz="1000" dirty="0">
                <a:solidFill>
                  <a:srgbClr val="A4A4B2"/>
                </a:solidFill>
                <a:latin typeface="Arial" pitchFamily="34" charset="0"/>
                <a:ea typeface="Arial" pitchFamily="34" charset="-122"/>
                <a:cs typeface="Arial" pitchFamily="34" charset="-120"/>
              </a:rPr>
              <a:t>c’est lequel ?</a:t>
            </a:r>
            <a:endParaRPr lang="en-US" sz="1000" dirty="0"/>
          </a:p>
        </p:txBody>
      </p:sp>
      <p:sp>
        <p:nvSpPr>
          <p:cNvPr id="36" name="Shape 34"/>
          <p:cNvSpPr/>
          <p:nvPr/>
        </p:nvSpPr>
        <p:spPr>
          <a:xfrm>
            <a:off x="9555480" y="2450592"/>
            <a:ext cx="1828800" cy="841248"/>
          </a:xfrm>
          <a:prstGeom prst="roundRect">
            <a:avLst>
              <a:gd name="adj" fmla="val 15217"/>
            </a:avLst>
          </a:prstGeom>
          <a:solidFill>
            <a:srgbClr val="221720"/>
          </a:solidFill>
          <a:ln w="9525">
            <a:solidFill>
              <a:srgbClr val="4A3040"/>
            </a:solidFill>
            <a:prstDash val="solid"/>
          </a:ln>
        </p:spPr>
      </p:sp>
      <p:sp>
        <p:nvSpPr>
          <p:cNvPr id="37" name="Text 35"/>
          <p:cNvSpPr txBox="1"/>
          <p:nvPr/>
        </p:nvSpPr>
        <p:spPr>
          <a:xfrm>
            <a:off x="9555480" y="2560320"/>
            <a:ext cx="1828800" cy="237744"/>
          </a:xfrm>
          <a:prstGeom prst="rect">
            <a:avLst/>
          </a:prstGeom>
          <a:noFill/>
          <a:ln/>
        </p:spPr>
        <p:txBody>
          <a:bodyPr wrap="square" lIns="0" tIns="0" rIns="0" bIns="0" rtlCol="0" anchor="t"/>
          <a:lstStyle/>
          <a:p>
            <a:pPr algn="ctr" indent="0" marL="0">
              <a:buNone/>
            </a:pPr>
            <a:r>
              <a:rPr lang="en-US" sz="1300" b="1" dirty="0">
                <a:solidFill>
                  <a:srgbClr val="E6B9C8"/>
                </a:solidFill>
                <a:latin typeface="Arial" pitchFamily="34" charset="0"/>
                <a:ea typeface="Arial" pitchFamily="34" charset="-122"/>
                <a:cs typeface="Arial" pitchFamily="34" charset="-120"/>
              </a:rPr>
              <a:t>20:45 — on renonce</a:t>
            </a:r>
            <a:endParaRPr lang="en-US" sz="1300" dirty="0"/>
          </a:p>
        </p:txBody>
      </p:sp>
      <p:sp>
        <p:nvSpPr>
          <p:cNvPr id="38" name="Text 36"/>
          <p:cNvSpPr txBox="1"/>
          <p:nvPr/>
        </p:nvSpPr>
        <p:spPr>
          <a:xfrm>
            <a:off x="9646920" y="2825496"/>
            <a:ext cx="1645920" cy="384048"/>
          </a:xfrm>
          <a:prstGeom prst="rect">
            <a:avLst/>
          </a:prstGeom>
          <a:noFill/>
          <a:ln/>
        </p:spPr>
        <p:txBody>
          <a:bodyPr wrap="square" lIns="0" tIns="0" rIns="0" bIns="0" rtlCol="0" anchor="t"/>
          <a:lstStyle/>
          <a:p>
            <a:pPr algn="ctr" indent="0" marL="0">
              <a:buNone/>
            </a:pPr>
            <a:r>
              <a:rPr lang="en-US" sz="1000" dirty="0">
                <a:solidFill>
                  <a:srgbClr val="B58B9B"/>
                </a:solidFill>
                <a:latin typeface="Arial" pitchFamily="34" charset="0"/>
                <a:ea typeface="Arial" pitchFamily="34" charset="-122"/>
                <a:cs typeface="Arial" pitchFamily="34" charset="-120"/>
              </a:rPr>
              <a:t>et on remet un épisode déjà vu</a:t>
            </a:r>
            <a:endParaRPr lang="en-US" sz="1000" dirty="0"/>
          </a:p>
        </p:txBody>
      </p:sp>
      <p:sp>
        <p:nvSpPr>
          <p:cNvPr id="39" name="Shape 37"/>
          <p:cNvSpPr/>
          <p:nvPr/>
        </p:nvSpPr>
        <p:spPr>
          <a:xfrm>
            <a:off x="640080" y="4069080"/>
            <a:ext cx="10908792" cy="2240280"/>
          </a:xfrm>
          <a:prstGeom prst="roundRect">
            <a:avLst>
              <a:gd name="adj" fmla="val 6531"/>
            </a:avLst>
          </a:prstGeom>
          <a:solidFill>
            <a:srgbClr val="1A1411"/>
          </a:solidFill>
          <a:ln w="9525">
            <a:solidFill>
              <a:srgbClr val="6B3A22"/>
            </a:solidFill>
            <a:prstDash val="solid"/>
          </a:ln>
        </p:spPr>
      </p:sp>
      <p:sp>
        <p:nvSpPr>
          <p:cNvPr id="40" name="Shape 38"/>
          <p:cNvSpPr/>
          <p:nvPr/>
        </p:nvSpPr>
        <p:spPr>
          <a:xfrm>
            <a:off x="868680" y="4197096"/>
            <a:ext cx="1417320" cy="384048"/>
          </a:xfrm>
          <a:prstGeom prst="roundRect">
            <a:avLst>
              <a:gd name="adj" fmla="val 50000"/>
            </a:avLst>
          </a:prstGeom>
          <a:solidFill>
            <a:srgbClr val="FF7A3D"/>
          </a:solidFill>
          <a:ln w="9525">
            <a:solidFill>
              <a:srgbClr val="FF7A3D"/>
            </a:solidFill>
            <a:prstDash val="solid"/>
          </a:ln>
        </p:spPr>
      </p:sp>
      <p:sp>
        <p:nvSpPr>
          <p:cNvPr id="41" name="Text 39"/>
          <p:cNvSpPr txBox="1"/>
          <p:nvPr/>
        </p:nvSpPr>
        <p:spPr>
          <a:xfrm>
            <a:off x="868680" y="4197096"/>
            <a:ext cx="1417320" cy="384048"/>
          </a:xfrm>
          <a:prstGeom prst="rect">
            <a:avLst/>
          </a:prstGeom>
          <a:noFill/>
          <a:ln/>
        </p:spPr>
        <p:txBody>
          <a:bodyPr wrap="square" lIns="0" tIns="0" rIns="0" bIns="0" rtlCol="0" anchor="ctr"/>
          <a:lstStyle/>
          <a:p>
            <a:pPr algn="ctr" indent="0" marL="0">
              <a:buNone/>
            </a:pPr>
            <a:r>
              <a:rPr lang="en-US" sz="1200" b="1" dirty="0">
                <a:solidFill>
                  <a:srgbClr val="1A0D05"/>
                </a:solidFill>
                <a:latin typeface="Arial" pitchFamily="34" charset="0"/>
                <a:ea typeface="Arial" pitchFamily="34" charset="-122"/>
                <a:cs typeface="Arial" pitchFamily="34" charset="-120"/>
              </a:rPr>
              <a:t>AVEC SÉANCE</a:t>
            </a:r>
            <a:endParaRPr lang="en-US" sz="1200" dirty="0"/>
          </a:p>
        </p:txBody>
      </p:sp>
      <p:sp>
        <p:nvSpPr>
          <p:cNvPr id="42" name="Text 40"/>
          <p:cNvSpPr txBox="1"/>
          <p:nvPr/>
        </p:nvSpPr>
        <p:spPr>
          <a:xfrm>
            <a:off x="2468880" y="4251960"/>
            <a:ext cx="6858000" cy="310896"/>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Trois touchers : la soirée était déjà prête.</a:t>
            </a:r>
            <a:endParaRPr lang="en-US" sz="1600" dirty="0"/>
          </a:p>
        </p:txBody>
      </p:sp>
      <p:sp>
        <p:nvSpPr>
          <p:cNvPr id="43" name="Text 41"/>
          <p:cNvSpPr txBox="1"/>
          <p:nvPr/>
        </p:nvSpPr>
        <p:spPr>
          <a:xfrm>
            <a:off x="868680" y="4709160"/>
            <a:ext cx="914400" cy="237744"/>
          </a:xfrm>
          <a:prstGeom prst="rect">
            <a:avLst/>
          </a:prstGeom>
          <a:noFill/>
          <a:ln/>
        </p:spPr>
        <p:txBody>
          <a:bodyPr wrap="square" lIns="0" tIns="0" rIns="0" bIns="0" rtlCol="0" anchor="t"/>
          <a:lstStyle/>
          <a:p>
            <a:pPr indent="0" marL="0">
              <a:buNone/>
            </a:pPr>
            <a:r>
              <a:rPr lang="en-US" sz="1200" b="1" dirty="0">
                <a:solidFill>
                  <a:srgbClr val="FFA24A"/>
                </a:solidFill>
                <a:latin typeface="Arial" pitchFamily="34" charset="0"/>
                <a:ea typeface="Arial" pitchFamily="34" charset="-122"/>
                <a:cs typeface="Arial" pitchFamily="34" charset="-120"/>
              </a:rPr>
              <a:t>20:10</a:t>
            </a:r>
            <a:endParaRPr lang="en-US" sz="1200" dirty="0"/>
          </a:p>
        </p:txBody>
      </p:sp>
      <p:sp>
        <p:nvSpPr>
          <p:cNvPr id="44" name="Text 42"/>
          <p:cNvSpPr txBox="1"/>
          <p:nvPr/>
        </p:nvSpPr>
        <p:spPr>
          <a:xfrm>
            <a:off x="868680" y="4910328"/>
            <a:ext cx="1280160" cy="237744"/>
          </a:xfrm>
          <a:prstGeom prst="rect">
            <a:avLst/>
          </a:prstGeom>
          <a:noFill/>
          <a:ln/>
        </p:spPr>
        <p:txBody>
          <a:bodyPr wrap="square" lIns="0" tIns="0" rIns="0" bIns="0" rtlCol="0" anchor="t"/>
          <a:lstStyle/>
          <a:p>
            <a:pPr indent="0" marL="0">
              <a:buNone/>
            </a:pPr>
            <a:r>
              <a:rPr lang="en-US" sz="1100" dirty="0">
                <a:solidFill>
                  <a:srgbClr val="B08A70"/>
                </a:solidFill>
                <a:latin typeface="Arial" pitchFamily="34" charset="0"/>
                <a:ea typeface="Arial" pitchFamily="34" charset="-122"/>
                <a:cs typeface="Arial" pitchFamily="34" charset="-120"/>
              </a:rPr>
              <a:t>tu ouvres Séance</a:t>
            </a:r>
            <a:endParaRPr lang="en-US" sz="1100" dirty="0"/>
          </a:p>
        </p:txBody>
      </p:sp>
      <p:sp>
        <p:nvSpPr>
          <p:cNvPr id="45" name="Shape 43"/>
          <p:cNvSpPr/>
          <p:nvPr/>
        </p:nvSpPr>
        <p:spPr>
          <a:xfrm>
            <a:off x="914400" y="5257800"/>
            <a:ext cx="5074920" cy="0"/>
          </a:xfrm>
          <a:prstGeom prst="line">
            <a:avLst/>
          </a:prstGeom>
          <a:noFill/>
          <a:ln w="25400">
            <a:solidFill>
              <a:srgbClr val="6B3A22"/>
            </a:solidFill>
            <a:prstDash val="solid"/>
            <a:tailEnd type="triangle"/>
          </a:ln>
        </p:spPr>
      </p:sp>
      <p:sp>
        <p:nvSpPr>
          <p:cNvPr id="46" name="Shape 44"/>
          <p:cNvSpPr/>
          <p:nvPr/>
        </p:nvSpPr>
        <p:spPr>
          <a:xfrm>
            <a:off x="2080260" y="5189220"/>
            <a:ext cx="137160" cy="137160"/>
          </a:xfrm>
          <a:prstGeom prst="ellipse">
            <a:avLst/>
          </a:prstGeom>
          <a:solidFill>
            <a:srgbClr val="2A1710"/>
          </a:solidFill>
          <a:ln w="19050">
            <a:solidFill>
              <a:srgbClr val="FF7A3D"/>
            </a:solidFill>
            <a:prstDash val="solid"/>
          </a:ln>
        </p:spPr>
      </p:sp>
      <p:sp>
        <p:nvSpPr>
          <p:cNvPr id="47" name="Shape 45"/>
          <p:cNvSpPr/>
          <p:nvPr/>
        </p:nvSpPr>
        <p:spPr>
          <a:xfrm>
            <a:off x="2148840" y="5330952"/>
            <a:ext cx="0" cy="182880"/>
          </a:xfrm>
          <a:prstGeom prst="line">
            <a:avLst/>
          </a:prstGeom>
          <a:noFill/>
          <a:ln w="12700">
            <a:solidFill>
              <a:srgbClr val="6B3A22"/>
            </a:solidFill>
            <a:prstDash val="solid"/>
          </a:ln>
        </p:spPr>
      </p:sp>
      <p:sp>
        <p:nvSpPr>
          <p:cNvPr id="48" name="Text 46"/>
          <p:cNvSpPr txBox="1"/>
          <p:nvPr/>
        </p:nvSpPr>
        <p:spPr>
          <a:xfrm>
            <a:off x="1371600" y="5550408"/>
            <a:ext cx="1554480" cy="237744"/>
          </a:xfrm>
          <a:prstGeom prst="rect">
            <a:avLst/>
          </a:prstGeom>
          <a:noFill/>
          <a:ln/>
        </p:spPr>
        <p:txBody>
          <a:bodyPr wrap="square" lIns="0" tIns="0" rIns="0" bIns="0" rtlCol="0" anchor="t"/>
          <a:lstStyle/>
          <a:p>
            <a:pPr algn="ctr" indent="0" marL="0">
              <a:buNone/>
            </a:pPr>
            <a:r>
              <a:rPr lang="en-US" sz="1200" b="1" dirty="0">
                <a:solidFill>
                  <a:srgbClr val="FFD0AE"/>
                </a:solidFill>
                <a:latin typeface="Arial" pitchFamily="34" charset="0"/>
                <a:ea typeface="Arial" pitchFamily="34" charset="-122"/>
                <a:cs typeface="Arial" pitchFamily="34" charset="-120"/>
              </a:rPr>
              <a:t>« Ce soir »</a:t>
            </a:r>
            <a:endParaRPr lang="en-US" sz="1200" dirty="0"/>
          </a:p>
        </p:txBody>
      </p:sp>
      <p:sp>
        <p:nvSpPr>
          <p:cNvPr id="49" name="Text 47"/>
          <p:cNvSpPr txBox="1"/>
          <p:nvPr/>
        </p:nvSpPr>
        <p:spPr>
          <a:xfrm>
            <a:off x="1371600" y="5769864"/>
            <a:ext cx="1554480" cy="219456"/>
          </a:xfrm>
          <a:prstGeom prst="rect">
            <a:avLst/>
          </a:prstGeom>
          <a:noFill/>
          <a:ln/>
        </p:spPr>
        <p:txBody>
          <a:bodyPr wrap="square" lIns="0" tIns="0" rIns="0" bIns="0" rtlCol="0" anchor="t"/>
          <a:lstStyle/>
          <a:p>
            <a:pPr algn="ctr" indent="0" marL="0">
              <a:buNone/>
            </a:pPr>
            <a:r>
              <a:rPr lang="en-US" sz="1000" dirty="0">
                <a:solidFill>
                  <a:srgbClr val="B08A70"/>
                </a:solidFill>
                <a:latin typeface="Arial" pitchFamily="34" charset="0"/>
                <a:ea typeface="Arial" pitchFamily="34" charset="-122"/>
                <a:cs typeface="Arial" pitchFamily="34" charset="-120"/>
              </a:rPr>
              <a:t>ton film et ton épisode</a:t>
            </a:r>
            <a:endParaRPr lang="en-US" sz="1000" dirty="0"/>
          </a:p>
        </p:txBody>
      </p:sp>
      <p:sp>
        <p:nvSpPr>
          <p:cNvPr id="50" name="Text 48"/>
          <p:cNvSpPr txBox="1"/>
          <p:nvPr/>
        </p:nvSpPr>
        <p:spPr>
          <a:xfrm>
            <a:off x="1371600" y="5952744"/>
            <a:ext cx="1554480" cy="219456"/>
          </a:xfrm>
          <a:prstGeom prst="rect">
            <a:avLst/>
          </a:prstGeom>
          <a:noFill/>
          <a:ln/>
        </p:spPr>
        <p:txBody>
          <a:bodyPr wrap="square" lIns="0" tIns="0" rIns="0" bIns="0" rtlCol="0" anchor="t"/>
          <a:lstStyle/>
          <a:p>
            <a:pPr algn="ctr" indent="0" marL="0">
              <a:buNone/>
            </a:pPr>
            <a:r>
              <a:rPr lang="en-US" sz="1000" dirty="0">
                <a:solidFill>
                  <a:srgbClr val="B08A70"/>
                </a:solidFill>
                <a:latin typeface="Arial" pitchFamily="34" charset="0"/>
                <a:ea typeface="Arial" pitchFamily="34" charset="-122"/>
                <a:cs typeface="Arial" pitchFamily="34" charset="-120"/>
              </a:rPr>
              <a:t>t’attendent déjà</a:t>
            </a:r>
            <a:endParaRPr lang="en-US" sz="1000" dirty="0"/>
          </a:p>
        </p:txBody>
      </p:sp>
      <p:sp>
        <p:nvSpPr>
          <p:cNvPr id="51" name="Shape 49"/>
          <p:cNvSpPr/>
          <p:nvPr/>
        </p:nvSpPr>
        <p:spPr>
          <a:xfrm>
            <a:off x="3634740" y="5189220"/>
            <a:ext cx="137160" cy="137160"/>
          </a:xfrm>
          <a:prstGeom prst="ellipse">
            <a:avLst/>
          </a:prstGeom>
          <a:solidFill>
            <a:srgbClr val="2A1710"/>
          </a:solidFill>
          <a:ln w="19050">
            <a:solidFill>
              <a:srgbClr val="FF7A3D"/>
            </a:solidFill>
            <a:prstDash val="solid"/>
          </a:ln>
        </p:spPr>
      </p:sp>
      <p:sp>
        <p:nvSpPr>
          <p:cNvPr id="52" name="Shape 50"/>
          <p:cNvSpPr/>
          <p:nvPr/>
        </p:nvSpPr>
        <p:spPr>
          <a:xfrm>
            <a:off x="3703320" y="5330952"/>
            <a:ext cx="0" cy="182880"/>
          </a:xfrm>
          <a:prstGeom prst="line">
            <a:avLst/>
          </a:prstGeom>
          <a:noFill/>
          <a:ln w="12700">
            <a:solidFill>
              <a:srgbClr val="6B3A22"/>
            </a:solidFill>
            <a:prstDash val="solid"/>
          </a:ln>
        </p:spPr>
      </p:sp>
      <p:sp>
        <p:nvSpPr>
          <p:cNvPr id="53" name="Text 51"/>
          <p:cNvSpPr txBox="1"/>
          <p:nvPr/>
        </p:nvSpPr>
        <p:spPr>
          <a:xfrm>
            <a:off x="2926080" y="5550408"/>
            <a:ext cx="1554480" cy="237744"/>
          </a:xfrm>
          <a:prstGeom prst="rect">
            <a:avLst/>
          </a:prstGeom>
          <a:noFill/>
          <a:ln/>
        </p:spPr>
        <p:txBody>
          <a:bodyPr wrap="square" lIns="0" tIns="0" rIns="0" bIns="0" rtlCol="0" anchor="t"/>
          <a:lstStyle/>
          <a:p>
            <a:pPr algn="ctr" indent="0" marL="0">
              <a:buNone/>
            </a:pPr>
            <a:r>
              <a:rPr lang="en-US" sz="1200" b="1" dirty="0">
                <a:solidFill>
                  <a:srgbClr val="FFD0AE"/>
                </a:solidFill>
                <a:latin typeface="Arial" pitchFamily="34" charset="0"/>
                <a:ea typeface="Arial" pitchFamily="34" charset="-122"/>
                <a:cs typeface="Arial" pitchFamily="34" charset="-120"/>
              </a:rPr>
              <a:t>Le badge dit où</a:t>
            </a:r>
            <a:endParaRPr lang="en-US" sz="1200" dirty="0"/>
          </a:p>
        </p:txBody>
      </p:sp>
      <p:sp>
        <p:nvSpPr>
          <p:cNvPr id="54" name="Text 52"/>
          <p:cNvSpPr txBox="1"/>
          <p:nvPr/>
        </p:nvSpPr>
        <p:spPr>
          <a:xfrm>
            <a:off x="2926080" y="5769864"/>
            <a:ext cx="1554480" cy="219456"/>
          </a:xfrm>
          <a:prstGeom prst="rect">
            <a:avLst/>
          </a:prstGeom>
          <a:noFill/>
          <a:ln/>
        </p:spPr>
        <p:txBody>
          <a:bodyPr wrap="square" lIns="0" tIns="0" rIns="0" bIns="0" rtlCol="0" anchor="t"/>
          <a:lstStyle/>
          <a:p>
            <a:pPr algn="ctr" indent="0" marL="0">
              <a:buNone/>
            </a:pPr>
            <a:r>
              <a:rPr lang="en-US" sz="1000" dirty="0">
                <a:solidFill>
                  <a:srgbClr val="B08A70"/>
                </a:solidFill>
                <a:latin typeface="Arial" pitchFamily="34" charset="0"/>
                <a:ea typeface="Arial" pitchFamily="34" charset="-122"/>
                <a:cs typeface="Arial" pitchFamily="34" charset="-120"/>
              </a:rPr>
              <a:t>Netflix · RTS 1 à 20:35</a:t>
            </a:r>
            <a:endParaRPr lang="en-US" sz="1000" dirty="0"/>
          </a:p>
        </p:txBody>
      </p:sp>
      <p:sp>
        <p:nvSpPr>
          <p:cNvPr id="55" name="Text 53"/>
          <p:cNvSpPr txBox="1"/>
          <p:nvPr/>
        </p:nvSpPr>
        <p:spPr>
          <a:xfrm>
            <a:off x="2926080" y="5952744"/>
            <a:ext cx="1554480" cy="219456"/>
          </a:xfrm>
          <a:prstGeom prst="rect">
            <a:avLst/>
          </a:prstGeom>
          <a:noFill/>
          <a:ln/>
        </p:spPr>
        <p:txBody>
          <a:bodyPr wrap="square" lIns="0" tIns="0" rIns="0" bIns="0" rtlCol="0" anchor="t"/>
          <a:lstStyle/>
          <a:p>
            <a:pPr algn="ctr" indent="0" marL="0">
              <a:buNone/>
            </a:pPr>
            <a:r>
              <a:rPr lang="en-US" sz="1000" dirty="0">
                <a:solidFill>
                  <a:srgbClr val="B08A70"/>
                </a:solidFill>
                <a:latin typeface="Arial" pitchFamily="34" charset="0"/>
                <a:ea typeface="Arial" pitchFamily="34" charset="-122"/>
                <a:cs typeface="Arial" pitchFamily="34" charset="-120"/>
              </a:rPr>
              <a:t>ou ton NAS, en 4K</a:t>
            </a:r>
            <a:endParaRPr lang="en-US" sz="1000" dirty="0"/>
          </a:p>
        </p:txBody>
      </p:sp>
      <p:sp>
        <p:nvSpPr>
          <p:cNvPr id="56" name="Shape 54"/>
          <p:cNvSpPr/>
          <p:nvPr/>
        </p:nvSpPr>
        <p:spPr>
          <a:xfrm>
            <a:off x="5189220" y="5189220"/>
            <a:ext cx="137160" cy="137160"/>
          </a:xfrm>
          <a:prstGeom prst="ellipse">
            <a:avLst/>
          </a:prstGeom>
          <a:solidFill>
            <a:srgbClr val="2A1710"/>
          </a:solidFill>
          <a:ln w="19050">
            <a:solidFill>
              <a:srgbClr val="FF7A3D"/>
            </a:solidFill>
            <a:prstDash val="solid"/>
          </a:ln>
        </p:spPr>
      </p:sp>
      <p:sp>
        <p:nvSpPr>
          <p:cNvPr id="57" name="Shape 55"/>
          <p:cNvSpPr/>
          <p:nvPr/>
        </p:nvSpPr>
        <p:spPr>
          <a:xfrm>
            <a:off x="5257800" y="5330952"/>
            <a:ext cx="0" cy="182880"/>
          </a:xfrm>
          <a:prstGeom prst="line">
            <a:avLst/>
          </a:prstGeom>
          <a:noFill/>
          <a:ln w="12700">
            <a:solidFill>
              <a:srgbClr val="6B3A22"/>
            </a:solidFill>
            <a:prstDash val="solid"/>
          </a:ln>
        </p:spPr>
      </p:sp>
      <p:sp>
        <p:nvSpPr>
          <p:cNvPr id="58" name="Text 56"/>
          <p:cNvSpPr txBox="1"/>
          <p:nvPr/>
        </p:nvSpPr>
        <p:spPr>
          <a:xfrm>
            <a:off x="4480560" y="5550408"/>
            <a:ext cx="1554480" cy="237744"/>
          </a:xfrm>
          <a:prstGeom prst="rect">
            <a:avLst/>
          </a:prstGeom>
          <a:noFill/>
          <a:ln/>
        </p:spPr>
        <p:txBody>
          <a:bodyPr wrap="square" lIns="0" tIns="0" rIns="0" bIns="0" rtlCol="0" anchor="t"/>
          <a:lstStyle/>
          <a:p>
            <a:pPr algn="ctr" indent="0" marL="0">
              <a:buNone/>
            </a:pPr>
            <a:r>
              <a:rPr lang="en-US" sz="1200" b="1" dirty="0">
                <a:solidFill>
                  <a:srgbClr val="FFD0AE"/>
                </a:solidFill>
                <a:latin typeface="Arial" pitchFamily="34" charset="0"/>
                <a:ea typeface="Arial" pitchFamily="34" charset="-122"/>
                <a:cs typeface="Arial" pitchFamily="34" charset="-120"/>
              </a:rPr>
              <a:t>Tu touches</a:t>
            </a:r>
            <a:endParaRPr lang="en-US" sz="1200" dirty="0"/>
          </a:p>
        </p:txBody>
      </p:sp>
      <p:sp>
        <p:nvSpPr>
          <p:cNvPr id="59" name="Text 57"/>
          <p:cNvSpPr txBox="1"/>
          <p:nvPr/>
        </p:nvSpPr>
        <p:spPr>
          <a:xfrm>
            <a:off x="4480560" y="5769864"/>
            <a:ext cx="1554480" cy="219456"/>
          </a:xfrm>
          <a:prstGeom prst="rect">
            <a:avLst/>
          </a:prstGeom>
          <a:noFill/>
          <a:ln/>
        </p:spPr>
        <p:txBody>
          <a:bodyPr wrap="square" lIns="0" tIns="0" rIns="0" bIns="0" rtlCol="0" anchor="t"/>
          <a:lstStyle/>
          <a:p>
            <a:pPr algn="ctr" indent="0" marL="0">
              <a:buNone/>
            </a:pPr>
            <a:r>
              <a:rPr lang="en-US" sz="1000" dirty="0">
                <a:solidFill>
                  <a:srgbClr val="B08A70"/>
                </a:solidFill>
                <a:latin typeface="Arial" pitchFamily="34" charset="0"/>
                <a:ea typeface="Arial" pitchFamily="34" charset="-122"/>
                <a:cs typeface="Arial" pitchFamily="34" charset="-120"/>
              </a:rPr>
              <a:t>la plateforme s’ouvre,</a:t>
            </a:r>
            <a:endParaRPr lang="en-US" sz="1000" dirty="0"/>
          </a:p>
        </p:txBody>
      </p:sp>
      <p:sp>
        <p:nvSpPr>
          <p:cNvPr id="60" name="Text 58"/>
          <p:cNvSpPr txBox="1"/>
          <p:nvPr/>
        </p:nvSpPr>
        <p:spPr>
          <a:xfrm>
            <a:off x="4480560" y="5952744"/>
            <a:ext cx="1554480" cy="219456"/>
          </a:xfrm>
          <a:prstGeom prst="rect">
            <a:avLst/>
          </a:prstGeom>
          <a:noFill/>
          <a:ln/>
        </p:spPr>
        <p:txBody>
          <a:bodyPr wrap="square" lIns="0" tIns="0" rIns="0" bIns="0" rtlCol="0" anchor="t"/>
          <a:lstStyle/>
          <a:p>
            <a:pPr algn="ctr" indent="0" marL="0">
              <a:buNone/>
            </a:pPr>
            <a:r>
              <a:rPr lang="en-US" sz="1000" dirty="0">
                <a:solidFill>
                  <a:srgbClr val="B08A70"/>
                </a:solidFill>
                <a:latin typeface="Arial" pitchFamily="34" charset="0"/>
                <a:ea typeface="Arial" pitchFamily="34" charset="-122"/>
                <a:cs typeface="Arial" pitchFamily="34" charset="-120"/>
              </a:rPr>
              <a:t>ou la vidéo démarre</a:t>
            </a:r>
            <a:endParaRPr lang="en-US" sz="1000" dirty="0"/>
          </a:p>
        </p:txBody>
      </p:sp>
      <p:sp>
        <p:nvSpPr>
          <p:cNvPr id="61" name="Shape 59"/>
          <p:cNvSpPr/>
          <p:nvPr/>
        </p:nvSpPr>
        <p:spPr>
          <a:xfrm>
            <a:off x="6126480" y="4800600"/>
            <a:ext cx="5230368" cy="914400"/>
          </a:xfrm>
          <a:prstGeom prst="roundRect">
            <a:avLst>
              <a:gd name="adj" fmla="val 16000"/>
            </a:avLst>
          </a:prstGeom>
          <a:solidFill>
            <a:srgbClr val="2A1710"/>
          </a:solidFill>
          <a:ln w="9525">
            <a:solidFill>
              <a:srgbClr val="6B3A22"/>
            </a:solidFill>
            <a:prstDash val="solid"/>
          </a:ln>
        </p:spPr>
      </p:sp>
      <p:sp>
        <p:nvSpPr>
          <p:cNvPr id="62" name="Shape 60"/>
          <p:cNvSpPr/>
          <p:nvPr/>
        </p:nvSpPr>
        <p:spPr>
          <a:xfrm>
            <a:off x="6355080" y="4983480"/>
            <a:ext cx="548640" cy="548640"/>
          </a:xfrm>
          <a:prstGeom prst="ellipse">
            <a:avLst/>
          </a:prstGeom>
          <a:solidFill>
            <a:srgbClr val="FF7A3D"/>
          </a:solidFill>
          <a:ln/>
        </p:spPr>
      </p:sp>
      <p:pic>
        <p:nvPicPr>
          <p:cNvPr id="63" name="Image 0" descr="preencoded.png">    </p:cNvPr>
          <p:cNvPicPr>
            <a:picLocks noChangeAspect="1"/>
          </p:cNvPicPr>
          <p:nvPr/>
        </p:nvPicPr>
        <p:blipFill>
          <a:blip r:embed="rId2"/>
          <a:stretch>
            <a:fillRect/>
          </a:stretch>
        </p:blipFill>
        <p:spPr>
          <a:xfrm>
            <a:off x="6497726" y="5126126"/>
            <a:ext cx="263347" cy="263347"/>
          </a:xfrm>
          <a:prstGeom prst="rect">
            <a:avLst/>
          </a:prstGeom>
        </p:spPr>
      </p:pic>
      <p:sp>
        <p:nvSpPr>
          <p:cNvPr id="64" name="Text 61"/>
          <p:cNvSpPr txBox="1"/>
          <p:nvPr/>
        </p:nvSpPr>
        <p:spPr>
          <a:xfrm>
            <a:off x="7059168" y="4992624"/>
            <a:ext cx="4114800" cy="274320"/>
          </a:xfrm>
          <a:prstGeom prst="rect">
            <a:avLst/>
          </a:prstGeom>
          <a:noFill/>
          <a:ln/>
        </p:spPr>
        <p:txBody>
          <a:bodyPr wrap="square" lIns="0" tIns="0" rIns="0" bIns="0" rtlCol="0" anchor="t"/>
          <a:lstStyle/>
          <a:p>
            <a:pPr indent="0" marL="0">
              <a:buNone/>
            </a:pPr>
            <a:r>
              <a:rPr lang="en-US" sz="1600" b="1" dirty="0">
                <a:solidFill>
                  <a:srgbClr val="FFD0AE"/>
                </a:solidFill>
                <a:latin typeface="Arial" pitchFamily="34" charset="0"/>
                <a:ea typeface="Arial" pitchFamily="34" charset="-122"/>
                <a:cs typeface="Arial" pitchFamily="34" charset="-120"/>
              </a:rPr>
              <a:t>20:12 — le film a commencé.</a:t>
            </a:r>
            <a:endParaRPr lang="en-US" sz="1600" dirty="0"/>
          </a:p>
        </p:txBody>
      </p:sp>
      <p:sp>
        <p:nvSpPr>
          <p:cNvPr id="65" name="Text 62"/>
          <p:cNvSpPr txBox="1"/>
          <p:nvPr/>
        </p:nvSpPr>
        <p:spPr>
          <a:xfrm>
            <a:off x="7059168" y="5303520"/>
            <a:ext cx="4114800" cy="274320"/>
          </a:xfrm>
          <a:prstGeom prst="rect">
            <a:avLst/>
          </a:prstGeom>
          <a:noFill/>
          <a:ln/>
        </p:spPr>
        <p:txBody>
          <a:bodyPr wrap="square" lIns="0" tIns="0" rIns="0" bIns="0" rtlCol="0" anchor="t"/>
          <a:lstStyle/>
          <a:p>
            <a:pPr indent="0" marL="0">
              <a:buNone/>
            </a:pPr>
            <a:r>
              <a:rPr lang="en-US" sz="1200" dirty="0">
                <a:solidFill>
                  <a:srgbClr val="B08A70"/>
                </a:solidFill>
                <a:latin typeface="Arial" pitchFamily="34" charset="0"/>
                <a:ea typeface="Arial" pitchFamily="34" charset="-122"/>
                <a:cs typeface="Arial" pitchFamily="34" charset="-120"/>
              </a:rPr>
              <a:t>Les trente-cinq minutes, tu les passes devant.</a:t>
            </a:r>
            <a:endParaRPr lang="en-US" sz="1200" dirty="0"/>
          </a:p>
        </p:txBody>
      </p:sp>
      <p:sp>
        <p:nvSpPr>
          <p:cNvPr id="66" name="Text 63"/>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patrick/Github/Seance/.build/presentation/tmp/tel-accueil-bas.png">    </p:cNvPr>
          <p:cNvPicPr>
            <a:picLocks noChangeAspect="1"/>
          </p:cNvPicPr>
          <p:nvPr/>
        </p:nvPicPr>
        <p:blipFill>
          <a:blip r:embed="rId2"/>
          <a:stretch>
            <a:fillRect/>
          </a:stretch>
        </p:blipFill>
        <p:spPr>
          <a:xfrm>
            <a:off x="822960" y="685800"/>
            <a:ext cx="2591278" cy="5486400"/>
          </a:xfrm>
          <a:prstGeom prst="rect">
            <a:avLst/>
          </a:prstGeom>
        </p:spPr>
      </p:pic>
      <p:sp>
        <p:nvSpPr>
          <p:cNvPr id="3" name="Text 0"/>
          <p:cNvSpPr txBox="1"/>
          <p:nvPr/>
        </p:nvSpPr>
        <p:spPr>
          <a:xfrm>
            <a:off x="4206240" y="86868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OÙ REGARDER</a:t>
            </a:r>
            <a:endParaRPr lang="en-US" sz="1200" dirty="0"/>
          </a:p>
        </p:txBody>
      </p:sp>
      <p:sp>
        <p:nvSpPr>
          <p:cNvPr id="4" name="Text 1"/>
          <p:cNvSpPr txBox="1"/>
          <p:nvPr/>
        </p:nvSpPr>
        <p:spPr>
          <a:xfrm>
            <a:off x="4206240" y="1188720"/>
            <a:ext cx="7315200" cy="114300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Fini, les vingt minutes à chercher sur quelle app c'est.</a:t>
            </a:r>
            <a:endParaRPr lang="en-US" sz="3200" dirty="0"/>
          </a:p>
        </p:txBody>
      </p:sp>
      <p:sp>
        <p:nvSpPr>
          <p:cNvPr id="5" name="Text 2"/>
          <p:cNvSpPr txBox="1"/>
          <p:nvPr/>
        </p:nvSpPr>
        <p:spPr>
          <a:xfrm>
            <a:off x="4206240" y="2423160"/>
            <a:ext cx="7132320" cy="548640"/>
          </a:xfrm>
          <a:prstGeom prst="rect">
            <a:avLst/>
          </a:prstGeom>
          <a:noFill/>
          <a:ln/>
        </p:spPr>
        <p:txBody>
          <a:bodyPr wrap="square" lIns="0" tIns="0" rIns="0" bIns="0" rtlCol="0" anchor="t"/>
          <a:lstStyle/>
          <a:p>
            <a:pPr indent="0" marL="0">
              <a:buNone/>
            </a:pPr>
            <a:r>
              <a:rPr lang="en-US" sz="1500" dirty="0">
                <a:solidFill>
                  <a:srgbClr val="A4A4B2"/>
                </a:solidFill>
                <a:latin typeface="Arial" pitchFamily="34" charset="0"/>
                <a:ea typeface="Arial" pitchFamily="34" charset="-122"/>
                <a:cs typeface="Arial" pitchFamily="34" charset="-120"/>
              </a:rPr>
              <a:t>Pour chaque film et chaque série, un petit badge sur l'affiche dit où le voir, chez toi, en Suisse — et il sert de bouton.</a:t>
            </a:r>
            <a:endParaRPr lang="en-US" sz="1500" dirty="0"/>
          </a:p>
        </p:txBody>
      </p:sp>
      <p:sp>
        <p:nvSpPr>
          <p:cNvPr id="6" name="Shape 3"/>
          <p:cNvSpPr/>
          <p:nvPr/>
        </p:nvSpPr>
        <p:spPr>
          <a:xfrm>
            <a:off x="4206240" y="3127248"/>
            <a:ext cx="3520440" cy="1280160"/>
          </a:xfrm>
          <a:prstGeom prst="roundRect">
            <a:avLst>
              <a:gd name="adj" fmla="val 11429"/>
            </a:avLst>
          </a:prstGeom>
          <a:solidFill>
            <a:srgbClr val="16161C"/>
          </a:solidFill>
          <a:ln w="9525">
            <a:solidFill>
              <a:srgbClr val="2E2E38"/>
            </a:solidFill>
            <a:prstDash val="solid"/>
          </a:ln>
        </p:spPr>
      </p:sp>
      <p:sp>
        <p:nvSpPr>
          <p:cNvPr id="7" name="Shape 4"/>
          <p:cNvSpPr/>
          <p:nvPr/>
        </p:nvSpPr>
        <p:spPr>
          <a:xfrm>
            <a:off x="4434840" y="3355848"/>
            <a:ext cx="566928" cy="566928"/>
          </a:xfrm>
          <a:prstGeom prst="ellipse">
            <a:avLst/>
          </a:prstGeom>
          <a:solidFill>
            <a:srgbClr val="FF7A3D"/>
          </a:solidFill>
          <a:ln/>
        </p:spPr>
      </p:sp>
      <p:pic>
        <p:nvPicPr>
          <p:cNvPr id="8" name="Image 1" descr="preencoded.png">    </p:cNvPr>
          <p:cNvPicPr>
            <a:picLocks noChangeAspect="1"/>
          </p:cNvPicPr>
          <p:nvPr/>
        </p:nvPicPr>
        <p:blipFill>
          <a:blip r:embed="rId3"/>
          <a:stretch>
            <a:fillRect/>
          </a:stretch>
        </p:blipFill>
        <p:spPr>
          <a:xfrm>
            <a:off x="4582241" y="3503249"/>
            <a:ext cx="272125" cy="272125"/>
          </a:xfrm>
          <a:prstGeom prst="rect">
            <a:avLst/>
          </a:prstGeom>
        </p:spPr>
      </p:pic>
      <p:sp>
        <p:nvSpPr>
          <p:cNvPr id="9" name="Text 5"/>
          <p:cNvSpPr txBox="1"/>
          <p:nvPr/>
        </p:nvSpPr>
        <p:spPr>
          <a:xfrm>
            <a:off x="5212080" y="3328416"/>
            <a:ext cx="237744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Tes plateformes</a:t>
            </a:r>
            <a:endParaRPr lang="en-US" sz="1600" dirty="0"/>
          </a:p>
        </p:txBody>
      </p:sp>
      <p:sp>
        <p:nvSpPr>
          <p:cNvPr id="10" name="Text 6"/>
          <p:cNvSpPr txBox="1"/>
          <p:nvPr/>
        </p:nvSpPr>
        <p:spPr>
          <a:xfrm>
            <a:off x="5212080" y="3657600"/>
            <a:ext cx="2377440" cy="64008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Tes abonnements de streaming, et seulement les tiens.</a:t>
            </a:r>
            <a:endParaRPr lang="en-US" sz="1200" dirty="0"/>
          </a:p>
        </p:txBody>
      </p:sp>
      <p:sp>
        <p:nvSpPr>
          <p:cNvPr id="11" name="Shape 7"/>
          <p:cNvSpPr/>
          <p:nvPr/>
        </p:nvSpPr>
        <p:spPr>
          <a:xfrm>
            <a:off x="7955280" y="3127248"/>
            <a:ext cx="3520440" cy="1280160"/>
          </a:xfrm>
          <a:prstGeom prst="roundRect">
            <a:avLst>
              <a:gd name="adj" fmla="val 11429"/>
            </a:avLst>
          </a:prstGeom>
          <a:solidFill>
            <a:srgbClr val="16161C"/>
          </a:solidFill>
          <a:ln w="9525">
            <a:solidFill>
              <a:srgbClr val="2E2E38"/>
            </a:solidFill>
            <a:prstDash val="solid"/>
          </a:ln>
        </p:spPr>
      </p:sp>
      <p:sp>
        <p:nvSpPr>
          <p:cNvPr id="12" name="Shape 8"/>
          <p:cNvSpPr/>
          <p:nvPr/>
        </p:nvSpPr>
        <p:spPr>
          <a:xfrm>
            <a:off x="8183880" y="3355848"/>
            <a:ext cx="566928" cy="566928"/>
          </a:xfrm>
          <a:prstGeom prst="ellipse">
            <a:avLst/>
          </a:prstGeom>
          <a:solidFill>
            <a:srgbClr val="FF7A3D"/>
          </a:solidFill>
          <a:ln/>
        </p:spPr>
      </p:sp>
      <p:pic>
        <p:nvPicPr>
          <p:cNvPr id="13" name="Image 2" descr="preencoded.png">    </p:cNvPr>
          <p:cNvPicPr>
            <a:picLocks noChangeAspect="1"/>
          </p:cNvPicPr>
          <p:nvPr/>
        </p:nvPicPr>
        <p:blipFill>
          <a:blip r:embed="rId4"/>
          <a:stretch>
            <a:fillRect/>
          </a:stretch>
        </p:blipFill>
        <p:spPr>
          <a:xfrm>
            <a:off x="8331281" y="3503249"/>
            <a:ext cx="272125" cy="272125"/>
          </a:xfrm>
          <a:prstGeom prst="rect">
            <a:avLst/>
          </a:prstGeom>
        </p:spPr>
      </p:pic>
      <p:sp>
        <p:nvSpPr>
          <p:cNvPr id="14" name="Text 9"/>
          <p:cNvSpPr txBox="1"/>
          <p:nvPr/>
        </p:nvSpPr>
        <p:spPr>
          <a:xfrm>
            <a:off x="8961120" y="3328416"/>
            <a:ext cx="237744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La télé</a:t>
            </a:r>
            <a:endParaRPr lang="en-US" sz="1600" dirty="0"/>
          </a:p>
        </p:txBody>
      </p:sp>
      <p:sp>
        <p:nvSpPr>
          <p:cNvPr id="15" name="Text 10"/>
          <p:cNvSpPr txBox="1"/>
          <p:nvPr/>
        </p:nvSpPr>
        <p:spPr>
          <a:xfrm>
            <a:off x="8961120" y="3657600"/>
            <a:ext cx="2377440" cy="64008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RTS et chaînes françaises, avec l'heure de passage.</a:t>
            </a:r>
            <a:endParaRPr lang="en-US" sz="1200" dirty="0"/>
          </a:p>
        </p:txBody>
      </p:sp>
      <p:sp>
        <p:nvSpPr>
          <p:cNvPr id="16" name="Shape 11"/>
          <p:cNvSpPr/>
          <p:nvPr/>
        </p:nvSpPr>
        <p:spPr>
          <a:xfrm>
            <a:off x="4206240" y="4608576"/>
            <a:ext cx="3520440" cy="1280160"/>
          </a:xfrm>
          <a:prstGeom prst="roundRect">
            <a:avLst>
              <a:gd name="adj" fmla="val 11429"/>
            </a:avLst>
          </a:prstGeom>
          <a:solidFill>
            <a:srgbClr val="16161C"/>
          </a:solidFill>
          <a:ln w="9525">
            <a:solidFill>
              <a:srgbClr val="2E2E38"/>
            </a:solidFill>
            <a:prstDash val="solid"/>
          </a:ln>
        </p:spPr>
      </p:sp>
      <p:sp>
        <p:nvSpPr>
          <p:cNvPr id="17" name="Shape 12"/>
          <p:cNvSpPr/>
          <p:nvPr/>
        </p:nvSpPr>
        <p:spPr>
          <a:xfrm>
            <a:off x="4434840" y="4837176"/>
            <a:ext cx="566928" cy="566928"/>
          </a:xfrm>
          <a:prstGeom prst="ellipse">
            <a:avLst/>
          </a:prstGeom>
          <a:solidFill>
            <a:srgbClr val="FF7A3D"/>
          </a:solidFill>
          <a:ln/>
        </p:spPr>
      </p:sp>
      <p:pic>
        <p:nvPicPr>
          <p:cNvPr id="18" name="Image 3" descr="preencoded.png">    </p:cNvPr>
          <p:cNvPicPr>
            <a:picLocks noChangeAspect="1"/>
          </p:cNvPicPr>
          <p:nvPr/>
        </p:nvPicPr>
        <p:blipFill>
          <a:blip r:embed="rId5"/>
          <a:stretch>
            <a:fillRect/>
          </a:stretch>
        </p:blipFill>
        <p:spPr>
          <a:xfrm>
            <a:off x="4582241" y="4984577"/>
            <a:ext cx="272125" cy="272125"/>
          </a:xfrm>
          <a:prstGeom prst="rect">
            <a:avLst/>
          </a:prstGeom>
        </p:spPr>
      </p:pic>
      <p:sp>
        <p:nvSpPr>
          <p:cNvPr id="19" name="Text 13"/>
          <p:cNvSpPr txBox="1"/>
          <p:nvPr/>
        </p:nvSpPr>
        <p:spPr>
          <a:xfrm>
            <a:off x="5212080" y="4809744"/>
            <a:ext cx="237744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Ton NAS</a:t>
            </a:r>
            <a:endParaRPr lang="en-US" sz="1600" dirty="0"/>
          </a:p>
        </p:txBody>
      </p:sp>
      <p:sp>
        <p:nvSpPr>
          <p:cNvPr id="20" name="Text 14"/>
          <p:cNvSpPr txBox="1"/>
          <p:nvPr/>
        </p:nvSpPr>
        <p:spPr>
          <a:xfrm>
            <a:off x="5212080" y="5138928"/>
            <a:ext cx="2377440" cy="64008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Tes propres films, avec la qualité du fichier : 4K, 1080p…</a:t>
            </a:r>
            <a:endParaRPr lang="en-US" sz="1200" dirty="0"/>
          </a:p>
        </p:txBody>
      </p:sp>
      <p:sp>
        <p:nvSpPr>
          <p:cNvPr id="21" name="Shape 15"/>
          <p:cNvSpPr/>
          <p:nvPr/>
        </p:nvSpPr>
        <p:spPr>
          <a:xfrm>
            <a:off x="7955280" y="4608576"/>
            <a:ext cx="3520440" cy="1280160"/>
          </a:xfrm>
          <a:prstGeom prst="roundRect">
            <a:avLst>
              <a:gd name="adj" fmla="val 11429"/>
            </a:avLst>
          </a:prstGeom>
          <a:solidFill>
            <a:srgbClr val="16161C"/>
          </a:solidFill>
          <a:ln w="9525">
            <a:solidFill>
              <a:srgbClr val="2E2E38"/>
            </a:solidFill>
            <a:prstDash val="solid"/>
          </a:ln>
        </p:spPr>
      </p:sp>
      <p:sp>
        <p:nvSpPr>
          <p:cNvPr id="22" name="Shape 16"/>
          <p:cNvSpPr/>
          <p:nvPr/>
        </p:nvSpPr>
        <p:spPr>
          <a:xfrm>
            <a:off x="8183880" y="4837176"/>
            <a:ext cx="566928" cy="566928"/>
          </a:xfrm>
          <a:prstGeom prst="ellipse">
            <a:avLst/>
          </a:prstGeom>
          <a:solidFill>
            <a:srgbClr val="FF7A3D"/>
          </a:solidFill>
          <a:ln/>
        </p:spPr>
      </p:sp>
      <p:pic>
        <p:nvPicPr>
          <p:cNvPr id="23" name="Image 4" descr="preencoded.png">    </p:cNvPr>
          <p:cNvPicPr>
            <a:picLocks noChangeAspect="1"/>
          </p:cNvPicPr>
          <p:nvPr/>
        </p:nvPicPr>
        <p:blipFill>
          <a:blip r:embed="rId6"/>
          <a:stretch>
            <a:fillRect/>
          </a:stretch>
        </p:blipFill>
        <p:spPr>
          <a:xfrm>
            <a:off x="8331281" y="4984577"/>
            <a:ext cx="272125" cy="272125"/>
          </a:xfrm>
          <a:prstGeom prst="rect">
            <a:avLst/>
          </a:prstGeom>
        </p:spPr>
      </p:pic>
      <p:sp>
        <p:nvSpPr>
          <p:cNvPr id="24" name="Text 17"/>
          <p:cNvSpPr txBox="1"/>
          <p:nvPr/>
        </p:nvSpPr>
        <p:spPr>
          <a:xfrm>
            <a:off x="8961120" y="4809744"/>
            <a:ext cx="237744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Nulle part ?</a:t>
            </a:r>
            <a:endParaRPr lang="en-US" sz="1600" dirty="0"/>
          </a:p>
        </p:txBody>
      </p:sp>
      <p:sp>
        <p:nvSpPr>
          <p:cNvPr id="25" name="Text 18"/>
          <p:cNvSpPr txBox="1"/>
          <p:nvPr/>
        </p:nvSpPr>
        <p:spPr>
          <a:xfrm>
            <a:off x="8961120" y="5138928"/>
            <a:ext cx="2377440" cy="64008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Séance le dit franchement, et t'indique où le louer.</a:t>
            </a:r>
            <a:endParaRPr lang="en-US" sz="1200" dirty="0"/>
          </a:p>
        </p:txBody>
      </p:sp>
      <p:sp>
        <p:nvSpPr>
          <p:cNvPr id="26" name="Text 19"/>
          <p:cNvSpPr txBox="1"/>
          <p:nvPr/>
        </p:nvSpPr>
        <p:spPr>
          <a:xfrm>
            <a:off x="4206240" y="5998464"/>
            <a:ext cx="7223760" cy="457200"/>
          </a:xfrm>
          <a:prstGeom prst="rect">
            <a:avLst/>
          </a:prstGeom>
          <a:noFill/>
          <a:ln/>
        </p:spPr>
        <p:txBody>
          <a:bodyPr wrap="square" lIns="0" tIns="0" rIns="0" bIns="0" rtlCol="0" anchor="t"/>
          <a:lstStyle/>
          <a:p>
            <a:pPr indent="0" marL="0">
              <a:buNone/>
            </a:pPr>
            <a:r>
              <a:rPr lang="en-US" sz="1200" b="1" dirty="0">
                <a:solidFill>
                  <a:srgbClr val="FFA24A"/>
                </a:solidFill>
                <a:latin typeface="Arial" pitchFamily="34" charset="0"/>
                <a:ea typeface="Arial" pitchFamily="34" charset="-122"/>
                <a:cs typeface="Arial" pitchFamily="34" charset="-120"/>
              </a:rPr>
              <a:t>Et on y va tout de suite : </a:t>
            </a:r>
            <a:pPr indent="0" marL="0">
              <a:buNone/>
            </a:pPr>
            <a:r>
              <a:rPr lang="en-US" sz="1200" dirty="0">
                <a:solidFill>
                  <a:srgbClr val="A4A4B2"/>
                </a:solidFill>
                <a:latin typeface="Arial" pitchFamily="34" charset="0"/>
                <a:ea typeface="Arial" pitchFamily="34" charset="-122"/>
                <a:cs typeface="Arial" pitchFamily="34" charset="-120"/>
              </a:rPr>
              <a:t>« Lire sur le NAS » lance la vidéo ; « Netflix », « Prime Video », « Apple TV » ouvrent la plateforme sur le titre ; la télé donne la chaîne, le jour et l'heure.</a:t>
            </a:r>
            <a:endParaRPr lang="en-US" sz="1200" dirty="0"/>
          </a:p>
        </p:txBody>
      </p:sp>
      <p:sp>
        <p:nvSpPr>
          <p:cNvPr id="27" name="Text 20"/>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CE SOIR</a:t>
            </a:r>
            <a:endParaRPr lang="en-US" sz="1200" dirty="0"/>
          </a:p>
        </p:txBody>
      </p:sp>
      <p:sp>
        <p:nvSpPr>
          <p:cNvPr id="3" name="Text 1"/>
          <p:cNvSpPr txBox="1"/>
          <p:nvPr/>
        </p:nvSpPr>
        <p:spPr>
          <a:xfrm>
            <a:off x="640080" y="868680"/>
            <a:ext cx="10972800" cy="6400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Ta soirée, prête en quatre gestes.</a:t>
            </a:r>
            <a:endParaRPr lang="en-US" sz="3400" dirty="0"/>
          </a:p>
        </p:txBody>
      </p:sp>
      <p:pic>
        <p:nvPicPr>
          <p:cNvPr id="4" name="Image 0" descr="/Users/patrick/Github/Seance/.build/presentation/tmp/tel-idees.png">    </p:cNvPr>
          <p:cNvPicPr>
            <a:picLocks noChangeAspect="1"/>
          </p:cNvPicPr>
          <p:nvPr/>
        </p:nvPicPr>
        <p:blipFill>
          <a:blip r:embed="rId2"/>
          <a:stretch>
            <a:fillRect/>
          </a:stretch>
        </p:blipFill>
        <p:spPr>
          <a:xfrm>
            <a:off x="640080" y="1783080"/>
            <a:ext cx="2159398" cy="4572000"/>
          </a:xfrm>
          <a:prstGeom prst="rect">
            <a:avLst/>
          </a:prstGeom>
        </p:spPr>
      </p:pic>
      <p:pic>
        <p:nvPicPr>
          <p:cNvPr id="5" name="Image 1" descr="/Users/patrick/Github/Seance/.build/presentation/tmp/tel-cesoir.png">    </p:cNvPr>
          <p:cNvPicPr>
            <a:picLocks noChangeAspect="1"/>
          </p:cNvPicPr>
          <p:nvPr/>
        </p:nvPicPr>
        <p:blipFill>
          <a:blip r:embed="rId3"/>
          <a:stretch>
            <a:fillRect/>
          </a:stretch>
        </p:blipFill>
        <p:spPr>
          <a:xfrm>
            <a:off x="3063240" y="1783080"/>
            <a:ext cx="2159398" cy="4572000"/>
          </a:xfrm>
          <a:prstGeom prst="rect">
            <a:avLst/>
          </a:prstGeom>
        </p:spPr>
      </p:pic>
      <p:sp>
        <p:nvSpPr>
          <p:cNvPr id="6" name="Shape 2"/>
          <p:cNvSpPr/>
          <p:nvPr/>
        </p:nvSpPr>
        <p:spPr>
          <a:xfrm>
            <a:off x="5806440" y="1783080"/>
            <a:ext cx="5760720" cy="1005840"/>
          </a:xfrm>
          <a:prstGeom prst="roundRect">
            <a:avLst>
              <a:gd name="adj" fmla="val 14545"/>
            </a:avLst>
          </a:prstGeom>
          <a:solidFill>
            <a:srgbClr val="16161C"/>
          </a:solidFill>
          <a:ln w="9525">
            <a:solidFill>
              <a:srgbClr val="2E2E38"/>
            </a:solidFill>
            <a:prstDash val="solid"/>
          </a:ln>
        </p:spPr>
      </p:sp>
      <p:sp>
        <p:nvSpPr>
          <p:cNvPr id="7" name="Shape 3"/>
          <p:cNvSpPr/>
          <p:nvPr/>
        </p:nvSpPr>
        <p:spPr>
          <a:xfrm>
            <a:off x="6035040" y="2011680"/>
            <a:ext cx="548640" cy="548640"/>
          </a:xfrm>
          <a:prstGeom prst="ellipse">
            <a:avLst/>
          </a:prstGeom>
          <a:solidFill>
            <a:srgbClr val="FF7A3D"/>
          </a:solidFill>
          <a:ln/>
        </p:spPr>
      </p:sp>
      <p:sp>
        <p:nvSpPr>
          <p:cNvPr id="8" name="Text 4"/>
          <p:cNvSpPr txBox="1"/>
          <p:nvPr/>
        </p:nvSpPr>
        <p:spPr>
          <a:xfrm>
            <a:off x="6035040" y="2011680"/>
            <a:ext cx="548640" cy="548640"/>
          </a:xfrm>
          <a:prstGeom prst="rect">
            <a:avLst/>
          </a:prstGeom>
          <a:noFill/>
          <a:ln/>
        </p:spPr>
        <p:txBody>
          <a:bodyPr wrap="square" lIns="0" tIns="0" rIns="0" bIns="0" rtlCol="0" anchor="ctr"/>
          <a:lstStyle/>
          <a:p>
            <a:pPr algn="ctr" indent="0" marL="0">
              <a:buNone/>
            </a:pPr>
            <a:r>
              <a:rPr lang="en-US" sz="1800" b="1" dirty="0">
                <a:solidFill>
                  <a:srgbClr val="1A0D05"/>
                </a:solidFill>
                <a:latin typeface="Arial" pitchFamily="34" charset="0"/>
                <a:ea typeface="Arial" pitchFamily="34" charset="-122"/>
                <a:cs typeface="Arial" pitchFamily="34" charset="-120"/>
              </a:rPr>
              <a:t>1</a:t>
            </a:r>
            <a:endParaRPr lang="en-US" sz="1800" dirty="0"/>
          </a:p>
        </p:txBody>
      </p:sp>
      <p:sp>
        <p:nvSpPr>
          <p:cNvPr id="9" name="Text 5"/>
          <p:cNvSpPr txBox="1"/>
          <p:nvPr/>
        </p:nvSpPr>
        <p:spPr>
          <a:xfrm>
            <a:off x="6812280" y="1929384"/>
            <a:ext cx="457200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Demande une idée</a:t>
            </a:r>
            <a:endParaRPr lang="en-US" sz="1600" dirty="0"/>
          </a:p>
        </p:txBody>
      </p:sp>
      <p:sp>
        <p:nvSpPr>
          <p:cNvPr id="10" name="Text 6"/>
          <p:cNvSpPr txBox="1"/>
          <p:nvPr/>
        </p:nvSpPr>
        <p:spPr>
          <a:xfrm>
            <a:off x="6812280" y="2240280"/>
            <a:ext cx="4572000" cy="5029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Des propositions parmi ce que tu peux vraiment regarder — films, séries, ou les deux. Ou « Surprends-moi ».</a:t>
            </a:r>
            <a:endParaRPr lang="en-US" sz="1200" dirty="0"/>
          </a:p>
        </p:txBody>
      </p:sp>
      <p:sp>
        <p:nvSpPr>
          <p:cNvPr id="11" name="Shape 7"/>
          <p:cNvSpPr/>
          <p:nvPr/>
        </p:nvSpPr>
        <p:spPr>
          <a:xfrm>
            <a:off x="5806440" y="2862072"/>
            <a:ext cx="5760720" cy="1005840"/>
          </a:xfrm>
          <a:prstGeom prst="roundRect">
            <a:avLst>
              <a:gd name="adj" fmla="val 14545"/>
            </a:avLst>
          </a:prstGeom>
          <a:solidFill>
            <a:srgbClr val="16161C"/>
          </a:solidFill>
          <a:ln w="9525">
            <a:solidFill>
              <a:srgbClr val="2E2E38"/>
            </a:solidFill>
            <a:prstDash val="solid"/>
          </a:ln>
        </p:spPr>
      </p:sp>
      <p:sp>
        <p:nvSpPr>
          <p:cNvPr id="12" name="Shape 8"/>
          <p:cNvSpPr/>
          <p:nvPr/>
        </p:nvSpPr>
        <p:spPr>
          <a:xfrm>
            <a:off x="6035040" y="3090672"/>
            <a:ext cx="548640" cy="548640"/>
          </a:xfrm>
          <a:prstGeom prst="ellipse">
            <a:avLst/>
          </a:prstGeom>
          <a:solidFill>
            <a:srgbClr val="FF7A3D"/>
          </a:solidFill>
          <a:ln/>
        </p:spPr>
      </p:sp>
      <p:sp>
        <p:nvSpPr>
          <p:cNvPr id="13" name="Text 9"/>
          <p:cNvSpPr txBox="1"/>
          <p:nvPr/>
        </p:nvSpPr>
        <p:spPr>
          <a:xfrm>
            <a:off x="6035040" y="3090672"/>
            <a:ext cx="548640" cy="548640"/>
          </a:xfrm>
          <a:prstGeom prst="rect">
            <a:avLst/>
          </a:prstGeom>
          <a:noFill/>
          <a:ln/>
        </p:spPr>
        <p:txBody>
          <a:bodyPr wrap="square" lIns="0" tIns="0" rIns="0" bIns="0" rtlCol="0" anchor="ctr"/>
          <a:lstStyle/>
          <a:p>
            <a:pPr algn="ctr" indent="0" marL="0">
              <a:buNone/>
            </a:pPr>
            <a:r>
              <a:rPr lang="en-US" sz="1800" b="1" dirty="0">
                <a:solidFill>
                  <a:srgbClr val="1A0D05"/>
                </a:solidFill>
                <a:latin typeface="Arial" pitchFamily="34" charset="0"/>
                <a:ea typeface="Arial" pitchFamily="34" charset="-122"/>
                <a:cs typeface="Arial" pitchFamily="34" charset="-120"/>
              </a:rPr>
              <a:t>2</a:t>
            </a:r>
            <a:endParaRPr lang="en-US" sz="1800" dirty="0"/>
          </a:p>
        </p:txBody>
      </p:sp>
      <p:sp>
        <p:nvSpPr>
          <p:cNvPr id="14" name="Text 10"/>
          <p:cNvSpPr txBox="1"/>
          <p:nvPr/>
        </p:nvSpPr>
        <p:spPr>
          <a:xfrm>
            <a:off x="6812280" y="3008376"/>
            <a:ext cx="457200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Pose-la sur un jour</a:t>
            </a:r>
            <a:endParaRPr lang="en-US" sz="1600" dirty="0"/>
          </a:p>
        </p:txBody>
      </p:sp>
      <p:sp>
        <p:nvSpPr>
          <p:cNvPr id="15" name="Text 11"/>
          <p:cNvSpPr txBox="1"/>
          <p:nvPr/>
        </p:nvSpPr>
        <p:spPr>
          <a:xfrm>
            <a:off x="6812280" y="3319272"/>
            <a:ext cx="4572000" cy="5029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Ce soir, samedi ou un autre jour, d'un toucher. Une série jamais commencée ? Son premier épisode t'attend.</a:t>
            </a:r>
            <a:endParaRPr lang="en-US" sz="1200" dirty="0"/>
          </a:p>
        </p:txBody>
      </p:sp>
      <p:sp>
        <p:nvSpPr>
          <p:cNvPr id="16" name="Shape 12"/>
          <p:cNvSpPr/>
          <p:nvPr/>
        </p:nvSpPr>
        <p:spPr>
          <a:xfrm>
            <a:off x="5806440" y="3941064"/>
            <a:ext cx="5760720" cy="1005840"/>
          </a:xfrm>
          <a:prstGeom prst="roundRect">
            <a:avLst>
              <a:gd name="adj" fmla="val 14545"/>
            </a:avLst>
          </a:prstGeom>
          <a:solidFill>
            <a:srgbClr val="16161C"/>
          </a:solidFill>
          <a:ln w="9525">
            <a:solidFill>
              <a:srgbClr val="2E2E38"/>
            </a:solidFill>
            <a:prstDash val="solid"/>
          </a:ln>
        </p:spPr>
      </p:sp>
      <p:sp>
        <p:nvSpPr>
          <p:cNvPr id="17" name="Shape 13"/>
          <p:cNvSpPr/>
          <p:nvPr/>
        </p:nvSpPr>
        <p:spPr>
          <a:xfrm>
            <a:off x="6035040" y="4169664"/>
            <a:ext cx="548640" cy="548640"/>
          </a:xfrm>
          <a:prstGeom prst="ellipse">
            <a:avLst/>
          </a:prstGeom>
          <a:solidFill>
            <a:srgbClr val="FF7A3D"/>
          </a:solidFill>
          <a:ln/>
        </p:spPr>
      </p:sp>
      <p:sp>
        <p:nvSpPr>
          <p:cNvPr id="18" name="Text 14"/>
          <p:cNvSpPr txBox="1"/>
          <p:nvPr/>
        </p:nvSpPr>
        <p:spPr>
          <a:xfrm>
            <a:off x="6035040" y="4169664"/>
            <a:ext cx="548640" cy="548640"/>
          </a:xfrm>
          <a:prstGeom prst="rect">
            <a:avLst/>
          </a:prstGeom>
          <a:noFill/>
          <a:ln/>
        </p:spPr>
        <p:txBody>
          <a:bodyPr wrap="square" lIns="0" tIns="0" rIns="0" bIns="0" rtlCol="0" anchor="ctr"/>
          <a:lstStyle/>
          <a:p>
            <a:pPr algn="ctr" indent="0" marL="0">
              <a:buNone/>
            </a:pPr>
            <a:r>
              <a:rPr lang="en-US" sz="1800" b="1" dirty="0">
                <a:solidFill>
                  <a:srgbClr val="1A0D05"/>
                </a:solidFill>
                <a:latin typeface="Arial" pitchFamily="34" charset="0"/>
                <a:ea typeface="Arial" pitchFamily="34" charset="-122"/>
                <a:cs typeface="Arial" pitchFamily="34" charset="-120"/>
              </a:rPr>
              <a:t>3</a:t>
            </a:r>
            <a:endParaRPr lang="en-US" sz="1800" dirty="0"/>
          </a:p>
        </p:txBody>
      </p:sp>
      <p:sp>
        <p:nvSpPr>
          <p:cNvPr id="19" name="Text 15"/>
          <p:cNvSpPr txBox="1"/>
          <p:nvPr/>
        </p:nvSpPr>
        <p:spPr>
          <a:xfrm>
            <a:off x="6812280" y="4087368"/>
            <a:ext cx="457200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Le jour venu, un rappel</a:t>
            </a:r>
            <a:endParaRPr lang="en-US" sz="1600" dirty="0"/>
          </a:p>
        </p:txBody>
      </p:sp>
      <p:sp>
        <p:nvSpPr>
          <p:cNvPr id="20" name="Text 16"/>
          <p:cNvSpPr txBox="1"/>
          <p:nvPr/>
        </p:nvSpPr>
        <p:spPr>
          <a:xfrm>
            <a:off x="6812280" y="4398264"/>
            <a:ext cx="4572000" cy="5029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Séance t'y fait penser, avec la chaîne et l'heure si c'est à la télé.</a:t>
            </a:r>
            <a:endParaRPr lang="en-US" sz="1200" dirty="0"/>
          </a:p>
        </p:txBody>
      </p:sp>
      <p:sp>
        <p:nvSpPr>
          <p:cNvPr id="21" name="Shape 17"/>
          <p:cNvSpPr/>
          <p:nvPr/>
        </p:nvSpPr>
        <p:spPr>
          <a:xfrm>
            <a:off x="5806440" y="5020056"/>
            <a:ext cx="5760720" cy="1005840"/>
          </a:xfrm>
          <a:prstGeom prst="roundRect">
            <a:avLst>
              <a:gd name="adj" fmla="val 14545"/>
            </a:avLst>
          </a:prstGeom>
          <a:solidFill>
            <a:srgbClr val="16161C"/>
          </a:solidFill>
          <a:ln w="9525">
            <a:solidFill>
              <a:srgbClr val="2E2E38"/>
            </a:solidFill>
            <a:prstDash val="solid"/>
          </a:ln>
        </p:spPr>
      </p:sp>
      <p:sp>
        <p:nvSpPr>
          <p:cNvPr id="22" name="Shape 18"/>
          <p:cNvSpPr/>
          <p:nvPr/>
        </p:nvSpPr>
        <p:spPr>
          <a:xfrm>
            <a:off x="6035040" y="5248656"/>
            <a:ext cx="548640" cy="548640"/>
          </a:xfrm>
          <a:prstGeom prst="ellipse">
            <a:avLst/>
          </a:prstGeom>
          <a:solidFill>
            <a:srgbClr val="FF7A3D"/>
          </a:solidFill>
          <a:ln/>
        </p:spPr>
      </p:sp>
      <p:sp>
        <p:nvSpPr>
          <p:cNvPr id="23" name="Text 19"/>
          <p:cNvSpPr txBox="1"/>
          <p:nvPr/>
        </p:nvSpPr>
        <p:spPr>
          <a:xfrm>
            <a:off x="6035040" y="5248656"/>
            <a:ext cx="548640" cy="548640"/>
          </a:xfrm>
          <a:prstGeom prst="rect">
            <a:avLst/>
          </a:prstGeom>
          <a:noFill/>
          <a:ln/>
        </p:spPr>
        <p:txBody>
          <a:bodyPr wrap="square" lIns="0" tIns="0" rIns="0" bIns="0" rtlCol="0" anchor="ctr"/>
          <a:lstStyle/>
          <a:p>
            <a:pPr algn="ctr" indent="0" marL="0">
              <a:buNone/>
            </a:pPr>
            <a:r>
              <a:rPr lang="en-US" sz="1800" b="1" dirty="0">
                <a:solidFill>
                  <a:srgbClr val="1A0D05"/>
                </a:solidFill>
                <a:latin typeface="Arial" pitchFamily="34" charset="0"/>
                <a:ea typeface="Arial" pitchFamily="34" charset="-122"/>
                <a:cs typeface="Arial" pitchFamily="34" charset="-120"/>
              </a:rPr>
              <a:t>4</a:t>
            </a:r>
            <a:endParaRPr lang="en-US" sz="1800" dirty="0"/>
          </a:p>
        </p:txBody>
      </p:sp>
      <p:sp>
        <p:nvSpPr>
          <p:cNvPr id="24" name="Text 20"/>
          <p:cNvSpPr txBox="1"/>
          <p:nvPr/>
        </p:nvSpPr>
        <p:spPr>
          <a:xfrm>
            <a:off x="6812280" y="5166360"/>
            <a:ext cx="457200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 Hier soir : regardé ? »</a:t>
            </a:r>
            <a:endParaRPr lang="en-US" sz="1600" dirty="0"/>
          </a:p>
        </p:txBody>
      </p:sp>
      <p:sp>
        <p:nvSpPr>
          <p:cNvPr id="25" name="Text 21"/>
          <p:cNvSpPr txBox="1"/>
          <p:nvPr/>
        </p:nvSpPr>
        <p:spPr>
          <a:xfrm>
            <a:off x="6812280" y="5477256"/>
            <a:ext cx="4572000" cy="5029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Un geste suffit : vu, reporté, ou oublié. L'épisode vu, la série sort de la soirée ; « Encore un » l'y remet.</a:t>
            </a:r>
            <a:endParaRPr lang="en-US" sz="1200" dirty="0"/>
          </a:p>
        </p:txBody>
      </p:sp>
      <p:sp>
        <p:nvSpPr>
          <p:cNvPr id="26" name="Text 22"/>
          <p:cNvSpPr txBox="1"/>
          <p:nvPr/>
        </p:nvSpPr>
        <p:spPr>
          <a:xfrm>
            <a:off x="5806440" y="6144768"/>
            <a:ext cx="5760720" cy="310896"/>
          </a:xfrm>
          <a:prstGeom prst="rect">
            <a:avLst/>
          </a:prstGeom>
          <a:noFill/>
          <a:ln/>
        </p:spPr>
        <p:txBody>
          <a:bodyPr wrap="square" lIns="0" tIns="0" rIns="0" bIns="0" rtlCol="0" anchor="t"/>
          <a:lstStyle/>
          <a:p>
            <a:pPr indent="0" marL="0">
              <a:buNone/>
            </a:pPr>
            <a:r>
              <a:rPr lang="en-US" sz="1100" b="1" dirty="0">
                <a:solidFill>
                  <a:srgbClr val="FFA24A"/>
                </a:solidFill>
                <a:latin typeface="Arial" pitchFamily="34" charset="0"/>
                <a:ea typeface="Arial" pitchFamily="34" charset="-122"/>
                <a:cs typeface="Arial" pitchFamily="34" charset="-120"/>
              </a:rPr>
              <a:t>« Je n'aime pas » </a:t>
            </a:r>
            <a:pPr indent="0" marL="0">
              <a:buNone/>
            </a:pPr>
            <a:r>
              <a:rPr lang="en-US" sz="1100" dirty="0">
                <a:solidFill>
                  <a:srgbClr val="A4A4B2"/>
                </a:solidFill>
                <a:latin typeface="Arial" pitchFamily="34" charset="0"/>
                <a:ea typeface="Arial" pitchFamily="34" charset="-122"/>
                <a:cs typeface="Arial" pitchFamily="34" charset="-120"/>
              </a:rPr>
              <a:t>— le titre ne t'est plus proposé nulle part ; la liste se reprend dans les réglages.</a:t>
            </a:r>
            <a:endParaRPr lang="en-US" sz="1100" dirty="0"/>
          </a:p>
        </p:txBody>
      </p:sp>
      <p:sp>
        <p:nvSpPr>
          <p:cNvPr id="27" name="Text 23"/>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PROGRAMME TÉLÉ</a:t>
            </a:r>
            <a:endParaRPr lang="en-US" sz="1200" dirty="0"/>
          </a:p>
        </p:txBody>
      </p:sp>
      <p:sp>
        <p:nvSpPr>
          <p:cNvPr id="3" name="Text 1"/>
          <p:cNvSpPr txBox="1"/>
          <p:nvPr/>
        </p:nvSpPr>
        <p:spPr>
          <a:xfrm>
            <a:off x="640080" y="1188720"/>
            <a:ext cx="5303520" cy="11887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La télé redevient simple.</a:t>
            </a:r>
            <a:endParaRPr lang="en-US" sz="3600" dirty="0"/>
          </a:p>
        </p:txBody>
      </p:sp>
      <p:sp>
        <p:nvSpPr>
          <p:cNvPr id="4" name="Text 2"/>
          <p:cNvSpPr txBox="1"/>
          <p:nvPr/>
        </p:nvSpPr>
        <p:spPr>
          <a:xfrm>
            <a:off x="640080" y="2468880"/>
            <a:ext cx="5120640" cy="868680"/>
          </a:xfrm>
          <a:prstGeom prst="rect">
            <a:avLst/>
          </a:prstGeom>
          <a:noFill/>
          <a:ln/>
        </p:spPr>
        <p:txBody>
          <a:bodyPr wrap="square" lIns="0" tIns="0" rIns="0" bIns="0" rtlCol="0" anchor="t"/>
          <a:lstStyle/>
          <a:p>
            <a:pPr indent="0" marL="0">
              <a:buNone/>
            </a:pPr>
            <a:r>
              <a:rPr lang="en-US" sz="1500" dirty="0">
                <a:solidFill>
                  <a:srgbClr val="A4A4B2"/>
                </a:solidFill>
                <a:latin typeface="Arial" pitchFamily="34" charset="0"/>
                <a:ea typeface="Arial" pitchFamily="34" charset="-122"/>
                <a:cs typeface="Arial" pitchFamily="34" charset="-120"/>
              </a:rPr>
              <a:t>Rien que les films et les séries de tes chaînes, un jour à la fois : la soirée en grandes images, l'heure en grand.</a:t>
            </a:r>
            <a:endParaRPr lang="en-US" sz="1500" dirty="0"/>
          </a:p>
        </p:txBody>
      </p:sp>
      <p:sp>
        <p:nvSpPr>
          <p:cNvPr id="5" name="Shape 3"/>
          <p:cNvSpPr/>
          <p:nvPr/>
        </p:nvSpPr>
        <p:spPr>
          <a:xfrm>
            <a:off x="640080" y="3630168"/>
            <a:ext cx="530352" cy="530352"/>
          </a:xfrm>
          <a:prstGeom prst="ellipse">
            <a:avLst/>
          </a:prstGeom>
          <a:solidFill>
            <a:srgbClr val="FF7A3D"/>
          </a:solidFill>
          <a:ln/>
        </p:spPr>
      </p:sp>
      <p:pic>
        <p:nvPicPr>
          <p:cNvPr id="6" name="Image 0" descr="preencoded.png">    </p:cNvPr>
          <p:cNvPicPr>
            <a:picLocks noChangeAspect="1"/>
          </p:cNvPicPr>
          <p:nvPr/>
        </p:nvPicPr>
        <p:blipFill>
          <a:blip r:embed="rId2"/>
          <a:stretch>
            <a:fillRect/>
          </a:stretch>
        </p:blipFill>
        <p:spPr>
          <a:xfrm>
            <a:off x="777972" y="3768060"/>
            <a:ext cx="254569" cy="254569"/>
          </a:xfrm>
          <a:prstGeom prst="rect">
            <a:avLst/>
          </a:prstGeom>
        </p:spPr>
      </p:pic>
      <p:sp>
        <p:nvSpPr>
          <p:cNvPr id="7" name="Text 4"/>
          <p:cNvSpPr txBox="1"/>
          <p:nvPr/>
        </p:nvSpPr>
        <p:spPr>
          <a:xfrm>
            <a:off x="1371600" y="3611880"/>
            <a:ext cx="448056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Une cloche sur chaque passage</a:t>
            </a:r>
            <a:endParaRPr lang="en-US" sz="1600" dirty="0"/>
          </a:p>
        </p:txBody>
      </p:sp>
      <p:sp>
        <p:nvSpPr>
          <p:cNvPr id="8" name="Text 5"/>
          <p:cNvSpPr txBox="1"/>
          <p:nvPr/>
        </p:nvSpPr>
        <p:spPr>
          <a:xfrm>
            <a:off x="1371600" y="3922776"/>
            <a:ext cx="4480560" cy="548640"/>
          </a:xfrm>
          <a:prstGeom prst="rect">
            <a:avLst/>
          </a:prstGeom>
          <a:noFill/>
          <a:ln/>
        </p:spPr>
        <p:txBody>
          <a:bodyPr wrap="square" lIns="0" tIns="0" rIns="0" bIns="0" rtlCol="0" anchor="t"/>
          <a:lstStyle/>
          <a:p>
            <a:pPr indent="0" marL="0">
              <a:buNone/>
            </a:pPr>
            <a:r>
              <a:rPr lang="en-US" sz="1300" dirty="0">
                <a:solidFill>
                  <a:srgbClr val="A4A4B2"/>
                </a:solidFill>
                <a:latin typeface="Arial" pitchFamily="34" charset="0"/>
                <a:ea typeface="Arial" pitchFamily="34" charset="-122"/>
                <a:cs typeface="Arial" pitchFamily="34" charset="-120"/>
              </a:rPr>
              <a:t>Séance te prévient un quart d'heure avant le début.</a:t>
            </a:r>
            <a:endParaRPr lang="en-US" sz="1300" dirty="0"/>
          </a:p>
        </p:txBody>
      </p:sp>
      <p:sp>
        <p:nvSpPr>
          <p:cNvPr id="9" name="Shape 6"/>
          <p:cNvSpPr/>
          <p:nvPr/>
        </p:nvSpPr>
        <p:spPr>
          <a:xfrm>
            <a:off x="640080" y="4544568"/>
            <a:ext cx="530352" cy="530352"/>
          </a:xfrm>
          <a:prstGeom prst="ellipse">
            <a:avLst/>
          </a:prstGeom>
          <a:solidFill>
            <a:srgbClr val="FF7A3D"/>
          </a:solidFill>
          <a:ln/>
        </p:spPr>
      </p:sp>
      <p:pic>
        <p:nvPicPr>
          <p:cNvPr id="10" name="Image 1" descr="preencoded.png">    </p:cNvPr>
          <p:cNvPicPr>
            <a:picLocks noChangeAspect="1"/>
          </p:cNvPicPr>
          <p:nvPr/>
        </p:nvPicPr>
        <p:blipFill>
          <a:blip r:embed="rId3"/>
          <a:stretch>
            <a:fillRect/>
          </a:stretch>
        </p:blipFill>
        <p:spPr>
          <a:xfrm>
            <a:off x="777972" y="4682460"/>
            <a:ext cx="254569" cy="254569"/>
          </a:xfrm>
          <a:prstGeom prst="rect">
            <a:avLst/>
          </a:prstGeom>
        </p:spPr>
      </p:pic>
      <p:sp>
        <p:nvSpPr>
          <p:cNvPr id="11" name="Text 7"/>
          <p:cNvSpPr txBox="1"/>
          <p:nvPr/>
        </p:nvSpPr>
        <p:spPr>
          <a:xfrm>
            <a:off x="1371600" y="4526280"/>
            <a:ext cx="448056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Ta liste mise en avant</a:t>
            </a:r>
            <a:endParaRPr lang="en-US" sz="1600" dirty="0"/>
          </a:p>
        </p:txBody>
      </p:sp>
      <p:sp>
        <p:nvSpPr>
          <p:cNvPr id="12" name="Text 8"/>
          <p:cNvSpPr txBox="1"/>
          <p:nvPr/>
        </p:nvSpPr>
        <p:spPr>
          <a:xfrm>
            <a:off x="1371600" y="4837176"/>
            <a:ext cx="4480560" cy="548640"/>
          </a:xfrm>
          <a:prstGeom prst="rect">
            <a:avLst/>
          </a:prstGeom>
          <a:noFill/>
          <a:ln/>
        </p:spPr>
        <p:txBody>
          <a:bodyPr wrap="square" lIns="0" tIns="0" rIns="0" bIns="0" rtlCol="0" anchor="t"/>
          <a:lstStyle/>
          <a:p>
            <a:pPr indent="0" marL="0">
              <a:buNone/>
            </a:pPr>
            <a:r>
              <a:rPr lang="en-US" sz="1300" dirty="0">
                <a:solidFill>
                  <a:srgbClr val="A4A4B2"/>
                </a:solidFill>
                <a:latin typeface="Arial" pitchFamily="34" charset="0"/>
                <a:ea typeface="Arial" pitchFamily="34" charset="-122"/>
                <a:cs typeface="Arial" pitchFamily="34" charset="-120"/>
              </a:rPr>
              <a:t>Un film que tu voulais voir passe à la télé ? Il ressort.</a:t>
            </a:r>
            <a:endParaRPr lang="en-US" sz="1300" dirty="0"/>
          </a:p>
        </p:txBody>
      </p:sp>
      <p:sp>
        <p:nvSpPr>
          <p:cNvPr id="13" name="Shape 9"/>
          <p:cNvSpPr/>
          <p:nvPr/>
        </p:nvSpPr>
        <p:spPr>
          <a:xfrm>
            <a:off x="640080" y="5458968"/>
            <a:ext cx="530352" cy="530352"/>
          </a:xfrm>
          <a:prstGeom prst="ellipse">
            <a:avLst/>
          </a:prstGeom>
          <a:solidFill>
            <a:srgbClr val="FF7A3D"/>
          </a:solidFill>
          <a:ln/>
        </p:spPr>
      </p:sp>
      <p:pic>
        <p:nvPicPr>
          <p:cNvPr id="14" name="Image 2" descr="preencoded.png">    </p:cNvPr>
          <p:cNvPicPr>
            <a:picLocks noChangeAspect="1"/>
          </p:cNvPicPr>
          <p:nvPr/>
        </p:nvPicPr>
        <p:blipFill>
          <a:blip r:embed="rId4"/>
          <a:stretch>
            <a:fillRect/>
          </a:stretch>
        </p:blipFill>
        <p:spPr>
          <a:xfrm>
            <a:off x="777972" y="5596860"/>
            <a:ext cx="254569" cy="254569"/>
          </a:xfrm>
          <a:prstGeom prst="rect">
            <a:avLst/>
          </a:prstGeom>
        </p:spPr>
      </p:pic>
      <p:sp>
        <p:nvSpPr>
          <p:cNvPr id="15" name="Text 10"/>
          <p:cNvSpPr txBox="1"/>
          <p:nvPr/>
        </p:nvSpPr>
        <p:spPr>
          <a:xfrm>
            <a:off x="1371600" y="5440680"/>
            <a:ext cx="448056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Sept jours, par chaîne</a:t>
            </a:r>
            <a:endParaRPr lang="en-US" sz="1600" dirty="0"/>
          </a:p>
        </p:txBody>
      </p:sp>
      <p:sp>
        <p:nvSpPr>
          <p:cNvPr id="16" name="Text 11"/>
          <p:cNvSpPr txBox="1"/>
          <p:nvPr/>
        </p:nvSpPr>
        <p:spPr>
          <a:xfrm>
            <a:off x="1371600" y="5751576"/>
            <a:ext cx="4480560" cy="548640"/>
          </a:xfrm>
          <a:prstGeom prst="rect">
            <a:avLst/>
          </a:prstGeom>
          <a:noFill/>
          <a:ln/>
        </p:spPr>
        <p:txBody>
          <a:bodyPr wrap="square" lIns="0" tIns="0" rIns="0" bIns="0" rtlCol="0" anchor="t"/>
          <a:lstStyle/>
          <a:p>
            <a:pPr indent="0" marL="0">
              <a:buNone/>
            </a:pPr>
            <a:r>
              <a:rPr lang="en-US" sz="1300" dirty="0">
                <a:solidFill>
                  <a:srgbClr val="A4A4B2"/>
                </a:solidFill>
                <a:latin typeface="Arial" pitchFamily="34" charset="0"/>
                <a:ea typeface="Arial" pitchFamily="34" charset="-122"/>
                <a:cs typeface="Arial" pitchFamily="34" charset="-120"/>
              </a:rPr>
              <a:t>Les épisodes qui s'enchaînent sont réunis en une carte.</a:t>
            </a:r>
            <a:endParaRPr lang="en-US" sz="1300" dirty="0"/>
          </a:p>
        </p:txBody>
      </p:sp>
      <p:pic>
        <p:nvPicPr>
          <p:cNvPr id="17" name="Image 3" descr="/Users/patrick/Github/Seance/.build/presentation/tmp/tel-tele.png">    </p:cNvPr>
          <p:cNvPicPr>
            <a:picLocks noChangeAspect="1"/>
          </p:cNvPicPr>
          <p:nvPr/>
        </p:nvPicPr>
        <p:blipFill>
          <a:blip r:embed="rId5"/>
          <a:stretch>
            <a:fillRect/>
          </a:stretch>
        </p:blipFill>
        <p:spPr>
          <a:xfrm>
            <a:off x="6492240" y="731520"/>
            <a:ext cx="2548090" cy="5394960"/>
          </a:xfrm>
          <a:prstGeom prst="rect">
            <a:avLst/>
          </a:prstGeom>
        </p:spPr>
      </p:pic>
      <p:pic>
        <p:nvPicPr>
          <p:cNvPr id="18" name="Image 4" descr="/Users/patrick/Github/Seance/.build/presentation/tmp/tel-tele-rappel.png">    </p:cNvPr>
          <p:cNvPicPr>
            <a:picLocks noChangeAspect="1"/>
          </p:cNvPicPr>
          <p:nvPr/>
        </p:nvPicPr>
        <p:blipFill>
          <a:blip r:embed="rId6"/>
          <a:stretch>
            <a:fillRect/>
          </a:stretch>
        </p:blipFill>
        <p:spPr>
          <a:xfrm>
            <a:off x="9189720" y="731520"/>
            <a:ext cx="2548090" cy="5394960"/>
          </a:xfrm>
          <a:prstGeom prst="rect">
            <a:avLst/>
          </a:prstGeom>
        </p:spPr>
      </p:pic>
      <p:sp>
        <p:nvSpPr>
          <p:cNvPr id="19" name="Text 12"/>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SÉRIES ET LISTES</a:t>
            </a:r>
            <a:endParaRPr lang="en-US" sz="1200" dirty="0"/>
          </a:p>
        </p:txBody>
      </p:sp>
      <p:sp>
        <p:nvSpPr>
          <p:cNvPr id="3" name="Text 1"/>
          <p:cNvSpPr txBox="1"/>
          <p:nvPr/>
        </p:nvSpPr>
        <p:spPr>
          <a:xfrm>
            <a:off x="640080" y="868680"/>
            <a:ext cx="10972800" cy="6400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Tes séries, épisode par épisode.</a:t>
            </a:r>
            <a:endParaRPr lang="en-US" sz="3400" dirty="0"/>
          </a:p>
        </p:txBody>
      </p:sp>
      <p:sp>
        <p:nvSpPr>
          <p:cNvPr id="4" name="Shape 2"/>
          <p:cNvSpPr/>
          <p:nvPr/>
        </p:nvSpPr>
        <p:spPr>
          <a:xfrm>
            <a:off x="640080" y="1737360"/>
            <a:ext cx="3429000" cy="4572000"/>
          </a:xfrm>
          <a:prstGeom prst="roundRect">
            <a:avLst>
              <a:gd name="adj" fmla="val 4267"/>
            </a:avLst>
          </a:prstGeom>
          <a:solidFill>
            <a:srgbClr val="16161C"/>
          </a:solidFill>
          <a:ln w="9525">
            <a:solidFill>
              <a:srgbClr val="2E2E38"/>
            </a:solidFill>
            <a:prstDash val="solid"/>
          </a:ln>
        </p:spPr>
      </p:sp>
      <p:pic>
        <p:nvPicPr>
          <p:cNvPr id="5" name="Image 0" descr="/Users/patrick/Github/Seance/.build/presentation/tmp/tel-episodes.png">    </p:cNvPr>
          <p:cNvPicPr>
            <a:picLocks noChangeAspect="1"/>
          </p:cNvPicPr>
          <p:nvPr/>
        </p:nvPicPr>
        <p:blipFill>
          <a:blip r:embed="rId2"/>
          <a:stretch>
            <a:fillRect/>
          </a:stretch>
        </p:blipFill>
        <p:spPr>
          <a:xfrm>
            <a:off x="1587994" y="1920240"/>
            <a:ext cx="1533173" cy="3246120"/>
          </a:xfrm>
          <a:prstGeom prst="rect">
            <a:avLst/>
          </a:prstGeom>
        </p:spPr>
      </p:pic>
      <p:sp>
        <p:nvSpPr>
          <p:cNvPr id="6" name="Text 3"/>
          <p:cNvSpPr txBox="1"/>
          <p:nvPr/>
        </p:nvSpPr>
        <p:spPr>
          <a:xfrm>
            <a:off x="822960" y="5285232"/>
            <a:ext cx="3063240" cy="274320"/>
          </a:xfrm>
          <a:prstGeom prst="rect">
            <a:avLst/>
          </a:prstGeom>
          <a:noFill/>
          <a:ln/>
        </p:spPr>
        <p:txBody>
          <a:bodyPr wrap="square" lIns="0" tIns="0" rIns="0" bIns="0" rtlCol="0" anchor="t"/>
          <a:lstStyle/>
          <a:p>
            <a:pPr algn="ctr" indent="0" marL="0">
              <a:buNone/>
            </a:pPr>
            <a:r>
              <a:rPr lang="en-US" sz="1500" b="1" dirty="0">
                <a:solidFill>
                  <a:srgbClr val="FFA24A"/>
                </a:solidFill>
                <a:latin typeface="Arial" pitchFamily="34" charset="0"/>
                <a:ea typeface="Arial" pitchFamily="34" charset="-122"/>
                <a:cs typeface="Arial" pitchFamily="34" charset="-120"/>
              </a:rPr>
              <a:t>Où tu en es</a:t>
            </a:r>
            <a:endParaRPr lang="en-US" sz="1500" dirty="0"/>
          </a:p>
        </p:txBody>
      </p:sp>
      <p:sp>
        <p:nvSpPr>
          <p:cNvPr id="7" name="Text 4"/>
          <p:cNvSpPr txBox="1"/>
          <p:nvPr/>
        </p:nvSpPr>
        <p:spPr>
          <a:xfrm>
            <a:off x="822960" y="5596128"/>
            <a:ext cx="3063240" cy="548640"/>
          </a:xfrm>
          <a:prstGeom prst="rect">
            <a:avLst/>
          </a:prstGeom>
          <a:noFill/>
          <a:ln/>
        </p:spPr>
        <p:txBody>
          <a:bodyPr wrap="square" lIns="0" tIns="0" rIns="0" bIns="0" rtlCol="0" anchor="t"/>
          <a:lstStyle/>
          <a:p>
            <a:pPr algn="ctr" indent="0" marL="0">
              <a:buNone/>
            </a:pPr>
            <a:r>
              <a:rPr lang="en-US" sz="1200" dirty="0">
                <a:solidFill>
                  <a:srgbClr val="A4A4B2"/>
                </a:solidFill>
                <a:latin typeface="Arial" pitchFamily="34" charset="0"/>
                <a:ea typeface="Arial" pitchFamily="34" charset="-122"/>
                <a:cs typeface="Arial" pitchFamily="34" charset="-120"/>
              </a:rPr>
              <a:t>Le prochain épisode, saison par saison, coché d'un geste.</a:t>
            </a:r>
            <a:endParaRPr lang="en-US" sz="1200" dirty="0"/>
          </a:p>
        </p:txBody>
      </p:sp>
      <p:sp>
        <p:nvSpPr>
          <p:cNvPr id="8" name="Shape 5"/>
          <p:cNvSpPr/>
          <p:nvPr/>
        </p:nvSpPr>
        <p:spPr>
          <a:xfrm>
            <a:off x="4389120" y="1737360"/>
            <a:ext cx="3429000" cy="4572000"/>
          </a:xfrm>
          <a:prstGeom prst="roundRect">
            <a:avLst>
              <a:gd name="adj" fmla="val 4267"/>
            </a:avLst>
          </a:prstGeom>
          <a:solidFill>
            <a:srgbClr val="16161C"/>
          </a:solidFill>
          <a:ln w="9525">
            <a:solidFill>
              <a:srgbClr val="2E2E38"/>
            </a:solidFill>
            <a:prstDash val="solid"/>
          </a:ln>
        </p:spPr>
      </p:sp>
      <p:pic>
        <p:nvPicPr>
          <p:cNvPr id="9" name="Image 1" descr="/Users/patrick/Github/Seance/.build/presentation/tmp/tel-avenir.png">    </p:cNvPr>
          <p:cNvPicPr>
            <a:picLocks noChangeAspect="1"/>
          </p:cNvPicPr>
          <p:nvPr/>
        </p:nvPicPr>
        <p:blipFill>
          <a:blip r:embed="rId3"/>
          <a:stretch>
            <a:fillRect/>
          </a:stretch>
        </p:blipFill>
        <p:spPr>
          <a:xfrm>
            <a:off x="5337034" y="1920240"/>
            <a:ext cx="1533173" cy="3246120"/>
          </a:xfrm>
          <a:prstGeom prst="rect">
            <a:avLst/>
          </a:prstGeom>
        </p:spPr>
      </p:pic>
      <p:sp>
        <p:nvSpPr>
          <p:cNvPr id="10" name="Text 6"/>
          <p:cNvSpPr txBox="1"/>
          <p:nvPr/>
        </p:nvSpPr>
        <p:spPr>
          <a:xfrm>
            <a:off x="4572000" y="5285232"/>
            <a:ext cx="3063240" cy="274320"/>
          </a:xfrm>
          <a:prstGeom prst="rect">
            <a:avLst/>
          </a:prstGeom>
          <a:noFill/>
          <a:ln/>
        </p:spPr>
        <p:txBody>
          <a:bodyPr wrap="square" lIns="0" tIns="0" rIns="0" bIns="0" rtlCol="0" anchor="t"/>
          <a:lstStyle/>
          <a:p>
            <a:pPr algn="ctr" indent="0" marL="0">
              <a:buNone/>
            </a:pPr>
            <a:r>
              <a:rPr lang="en-US" sz="1500" b="1" dirty="0">
                <a:solidFill>
                  <a:srgbClr val="FFA24A"/>
                </a:solidFill>
                <a:latin typeface="Arial" pitchFamily="34" charset="0"/>
                <a:ea typeface="Arial" pitchFamily="34" charset="-122"/>
                <a:cs typeface="Arial" pitchFamily="34" charset="-120"/>
              </a:rPr>
              <a:t>Ce qui arrive</a:t>
            </a:r>
            <a:endParaRPr lang="en-US" sz="1500" dirty="0"/>
          </a:p>
        </p:txBody>
      </p:sp>
      <p:sp>
        <p:nvSpPr>
          <p:cNvPr id="11" name="Text 7"/>
          <p:cNvSpPr txBox="1"/>
          <p:nvPr/>
        </p:nvSpPr>
        <p:spPr>
          <a:xfrm>
            <a:off x="4572000" y="5596128"/>
            <a:ext cx="3063240" cy="548640"/>
          </a:xfrm>
          <a:prstGeom prst="rect">
            <a:avLst/>
          </a:prstGeom>
          <a:noFill/>
          <a:ln/>
        </p:spPr>
        <p:txBody>
          <a:bodyPr wrap="square" lIns="0" tIns="0" rIns="0" bIns="0" rtlCol="0" anchor="t"/>
          <a:lstStyle/>
          <a:p>
            <a:pPr algn="ctr" indent="0" marL="0">
              <a:buNone/>
            </a:pPr>
            <a:r>
              <a:rPr lang="en-US" sz="1200" dirty="0">
                <a:solidFill>
                  <a:srgbClr val="A4A4B2"/>
                </a:solidFill>
                <a:latin typeface="Arial" pitchFamily="34" charset="0"/>
                <a:ea typeface="Arial" pitchFamily="34" charset="-122"/>
                <a:cs typeface="Arial" pitchFamily="34" charset="-120"/>
              </a:rPr>
              <a:t>Nouvel épisode, sortie d'un film, passage télé : chaque rendez-vous a sa carte.</a:t>
            </a:r>
            <a:endParaRPr lang="en-US" sz="1200" dirty="0"/>
          </a:p>
        </p:txBody>
      </p:sp>
      <p:sp>
        <p:nvSpPr>
          <p:cNvPr id="12" name="Shape 8"/>
          <p:cNvSpPr/>
          <p:nvPr/>
        </p:nvSpPr>
        <p:spPr>
          <a:xfrm>
            <a:off x="8138160" y="1737360"/>
            <a:ext cx="3429000" cy="4572000"/>
          </a:xfrm>
          <a:prstGeom prst="roundRect">
            <a:avLst>
              <a:gd name="adj" fmla="val 4267"/>
            </a:avLst>
          </a:prstGeom>
          <a:solidFill>
            <a:srgbClr val="16161C"/>
          </a:solidFill>
          <a:ln w="9525">
            <a:solidFill>
              <a:srgbClr val="2E2E38"/>
            </a:solidFill>
            <a:prstDash val="solid"/>
          </a:ln>
        </p:spPr>
      </p:sp>
      <p:pic>
        <p:nvPicPr>
          <p:cNvPr id="13" name="Image 2" descr="/Users/patrick/Github/Seance/.build/presentation/tmp/tel-listes.png">    </p:cNvPr>
          <p:cNvPicPr>
            <a:picLocks noChangeAspect="1"/>
          </p:cNvPicPr>
          <p:nvPr/>
        </p:nvPicPr>
        <p:blipFill>
          <a:blip r:embed="rId4"/>
          <a:stretch>
            <a:fillRect/>
          </a:stretch>
        </p:blipFill>
        <p:spPr>
          <a:xfrm>
            <a:off x="9086074" y="1920240"/>
            <a:ext cx="1533173" cy="3246120"/>
          </a:xfrm>
          <a:prstGeom prst="rect">
            <a:avLst/>
          </a:prstGeom>
        </p:spPr>
      </p:pic>
      <p:sp>
        <p:nvSpPr>
          <p:cNvPr id="14" name="Text 9"/>
          <p:cNvSpPr txBox="1"/>
          <p:nvPr/>
        </p:nvSpPr>
        <p:spPr>
          <a:xfrm>
            <a:off x="8321040" y="5285232"/>
            <a:ext cx="3063240" cy="274320"/>
          </a:xfrm>
          <a:prstGeom prst="rect">
            <a:avLst/>
          </a:prstGeom>
          <a:noFill/>
          <a:ln/>
        </p:spPr>
        <p:txBody>
          <a:bodyPr wrap="square" lIns="0" tIns="0" rIns="0" bIns="0" rtlCol="0" anchor="t"/>
          <a:lstStyle/>
          <a:p>
            <a:pPr algn="ctr" indent="0" marL="0">
              <a:buNone/>
            </a:pPr>
            <a:r>
              <a:rPr lang="en-US" sz="1500" b="1" dirty="0">
                <a:solidFill>
                  <a:srgbClr val="FFA24A"/>
                </a:solidFill>
                <a:latin typeface="Arial" pitchFamily="34" charset="0"/>
                <a:ea typeface="Arial" pitchFamily="34" charset="-122"/>
                <a:cs typeface="Arial" pitchFamily="34" charset="-120"/>
              </a:rPr>
              <a:t>Tes listes, à ta façon</a:t>
            </a:r>
            <a:endParaRPr lang="en-US" sz="1500" dirty="0"/>
          </a:p>
        </p:txBody>
      </p:sp>
      <p:sp>
        <p:nvSpPr>
          <p:cNvPr id="15" name="Text 10"/>
          <p:cNvSpPr txBox="1"/>
          <p:nvPr/>
        </p:nvSpPr>
        <p:spPr>
          <a:xfrm>
            <a:off x="8321040" y="5596128"/>
            <a:ext cx="3063240" cy="548640"/>
          </a:xfrm>
          <a:prstGeom prst="rect">
            <a:avLst/>
          </a:prstGeom>
          <a:noFill/>
          <a:ln/>
        </p:spPr>
        <p:txBody>
          <a:bodyPr wrap="square" lIns="0" tIns="0" rIns="0" bIns="0" rtlCol="0" anchor="t"/>
          <a:lstStyle/>
          <a:p>
            <a:pPr algn="ctr" indent="0" marL="0">
              <a:buNone/>
            </a:pPr>
            <a:r>
              <a:rPr lang="en-US" sz="1200" dirty="0">
                <a:solidFill>
                  <a:srgbClr val="A4A4B2"/>
                </a:solidFill>
                <a:latin typeface="Arial" pitchFamily="34" charset="0"/>
                <a:ea typeface="Arial" pitchFamily="34" charset="-122"/>
                <a:cs typeface="Arial" pitchFamily="34" charset="-120"/>
              </a:rPr>
              <a:t>À voir, en cours, terminés — et les tiennes, en affiches ou en liste.</a:t>
            </a:r>
            <a:endParaRPr lang="en-US" sz="1200" dirty="0"/>
          </a:p>
        </p:txBody>
      </p:sp>
      <p:sp>
        <p:nvSpPr>
          <p:cNvPr id="16" name="Text 11"/>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patrick/Github/Seance/.build/presentation/tmp/tel-nas.png">    </p:cNvPr>
          <p:cNvPicPr>
            <a:picLocks noChangeAspect="1"/>
          </p:cNvPicPr>
          <p:nvPr/>
        </p:nvPicPr>
        <p:blipFill>
          <a:blip r:embed="rId2"/>
          <a:stretch>
            <a:fillRect/>
          </a:stretch>
        </p:blipFill>
        <p:spPr>
          <a:xfrm>
            <a:off x="640080" y="731520"/>
            <a:ext cx="2548090" cy="5394960"/>
          </a:xfrm>
          <a:prstGeom prst="rect">
            <a:avLst/>
          </a:prstGeom>
        </p:spPr>
      </p:pic>
      <p:pic>
        <p:nvPicPr>
          <p:cNvPr id="3" name="Image 1" descr="/Users/patrick/Github/Seance/.build/presentation/tmp/tel-fiche.png">    </p:cNvPr>
          <p:cNvPicPr>
            <a:picLocks noChangeAspect="1"/>
          </p:cNvPicPr>
          <p:nvPr/>
        </p:nvPicPr>
        <p:blipFill>
          <a:blip r:embed="rId3"/>
          <a:stretch>
            <a:fillRect/>
          </a:stretch>
        </p:blipFill>
        <p:spPr>
          <a:xfrm>
            <a:off x="3337560" y="731520"/>
            <a:ext cx="2548090" cy="5394960"/>
          </a:xfrm>
          <a:prstGeom prst="rect">
            <a:avLst/>
          </a:prstGeom>
        </p:spPr>
      </p:pic>
      <p:sp>
        <p:nvSpPr>
          <p:cNvPr id="4" name="Text 0"/>
          <p:cNvSpPr txBox="1"/>
          <p:nvPr/>
        </p:nvSpPr>
        <p:spPr>
          <a:xfrm>
            <a:off x="6309360" y="86868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TON NAS · D'UNE APP À L'AUTRE</a:t>
            </a:r>
            <a:endParaRPr lang="en-US" sz="1200" dirty="0"/>
          </a:p>
        </p:txBody>
      </p:sp>
      <p:sp>
        <p:nvSpPr>
          <p:cNvPr id="5" name="Text 1"/>
          <p:cNvSpPr txBox="1"/>
          <p:nvPr/>
        </p:nvSpPr>
        <p:spPr>
          <a:xfrm>
            <a:off x="6309360" y="1188720"/>
            <a:ext cx="5303520" cy="11887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Un toucher, et le film démarre.</a:t>
            </a:r>
            <a:endParaRPr lang="en-US" sz="3400" dirty="0"/>
          </a:p>
        </p:txBody>
      </p:sp>
      <p:sp>
        <p:nvSpPr>
          <p:cNvPr id="6" name="Text 2"/>
          <p:cNvSpPr txBox="1"/>
          <p:nvPr/>
        </p:nvSpPr>
        <p:spPr>
          <a:xfrm>
            <a:off x="6309360" y="2468880"/>
            <a:ext cx="5212080" cy="868680"/>
          </a:xfrm>
          <a:prstGeom prst="rect">
            <a:avLst/>
          </a:prstGeom>
          <a:noFill/>
          <a:ln/>
        </p:spPr>
        <p:txBody>
          <a:bodyPr wrap="square" lIns="0" tIns="0" rIns="0" bIns="0" rtlCol="0" anchor="t"/>
          <a:lstStyle/>
          <a:p>
            <a:pPr indent="0" marL="0">
              <a:buNone/>
            </a:pPr>
            <a:r>
              <a:rPr lang="en-US" sz="1500" dirty="0">
                <a:solidFill>
                  <a:srgbClr val="A4A4B2"/>
                </a:solidFill>
                <a:latin typeface="Arial" pitchFamily="34" charset="0"/>
                <a:ea typeface="Arial" pitchFamily="34" charset="-122"/>
                <a:cs typeface="Arial" pitchFamily="34" charset="-120"/>
              </a:rPr>
              <a:t>Séance reconnaît les films et les séries de ton NAS, leur donne une affiche, et passe la main à ton lecteur vidéo.</a:t>
            </a:r>
            <a:endParaRPr lang="en-US" sz="1500" dirty="0"/>
          </a:p>
        </p:txBody>
      </p:sp>
      <p:sp>
        <p:nvSpPr>
          <p:cNvPr id="7" name="Shape 3"/>
          <p:cNvSpPr/>
          <p:nvPr/>
        </p:nvSpPr>
        <p:spPr>
          <a:xfrm>
            <a:off x="6309360" y="3611880"/>
            <a:ext cx="1508760" cy="1417320"/>
          </a:xfrm>
          <a:prstGeom prst="roundRect">
            <a:avLst>
              <a:gd name="adj" fmla="val 10323"/>
            </a:avLst>
          </a:prstGeom>
          <a:solidFill>
            <a:srgbClr val="1F1F27"/>
          </a:solidFill>
          <a:ln w="9525">
            <a:solidFill>
              <a:srgbClr val="2E2E38"/>
            </a:solidFill>
            <a:prstDash val="solid"/>
          </a:ln>
        </p:spPr>
      </p:sp>
      <p:sp>
        <p:nvSpPr>
          <p:cNvPr id="8" name="Shape 4"/>
          <p:cNvSpPr/>
          <p:nvPr/>
        </p:nvSpPr>
        <p:spPr>
          <a:xfrm>
            <a:off x="6793992" y="3749040"/>
            <a:ext cx="530352" cy="530352"/>
          </a:xfrm>
          <a:prstGeom prst="ellipse">
            <a:avLst/>
          </a:prstGeom>
          <a:solidFill>
            <a:srgbClr val="FF7A3D"/>
          </a:solidFill>
          <a:ln/>
        </p:spPr>
      </p:sp>
      <p:pic>
        <p:nvPicPr>
          <p:cNvPr id="9" name="Image 2" descr="preencoded.png">    </p:cNvPr>
          <p:cNvPicPr>
            <a:picLocks noChangeAspect="1"/>
          </p:cNvPicPr>
          <p:nvPr/>
        </p:nvPicPr>
        <p:blipFill>
          <a:blip r:embed="rId4"/>
          <a:stretch>
            <a:fillRect/>
          </a:stretch>
        </p:blipFill>
        <p:spPr>
          <a:xfrm>
            <a:off x="6931884" y="3886932"/>
            <a:ext cx="254569" cy="254569"/>
          </a:xfrm>
          <a:prstGeom prst="rect">
            <a:avLst/>
          </a:prstGeom>
        </p:spPr>
      </p:pic>
      <p:sp>
        <p:nvSpPr>
          <p:cNvPr id="10" name="Text 5"/>
          <p:cNvSpPr txBox="1"/>
          <p:nvPr/>
        </p:nvSpPr>
        <p:spPr>
          <a:xfrm>
            <a:off x="6309360" y="4370832"/>
            <a:ext cx="150876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Séance</a:t>
            </a:r>
            <a:endParaRPr lang="en-US" sz="1300" dirty="0"/>
          </a:p>
        </p:txBody>
      </p:sp>
      <p:sp>
        <p:nvSpPr>
          <p:cNvPr id="11" name="Text 6"/>
          <p:cNvSpPr txBox="1"/>
          <p:nvPr/>
        </p:nvSpPr>
        <p:spPr>
          <a:xfrm>
            <a:off x="6309360" y="4645152"/>
            <a:ext cx="150876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tu choisis</a:t>
            </a:r>
            <a:endParaRPr lang="en-US" sz="1100" dirty="0"/>
          </a:p>
        </p:txBody>
      </p:sp>
      <p:pic>
        <p:nvPicPr>
          <p:cNvPr id="12" name="Image 3" descr="preencoded.png">    </p:cNvPr>
          <p:cNvPicPr>
            <a:picLocks noChangeAspect="1"/>
          </p:cNvPicPr>
          <p:nvPr/>
        </p:nvPicPr>
        <p:blipFill>
          <a:blip r:embed="rId5"/>
          <a:stretch>
            <a:fillRect/>
          </a:stretch>
        </p:blipFill>
        <p:spPr>
          <a:xfrm>
            <a:off x="7872984" y="4206240"/>
            <a:ext cx="219456" cy="219456"/>
          </a:xfrm>
          <a:prstGeom prst="rect">
            <a:avLst/>
          </a:prstGeom>
        </p:spPr>
      </p:pic>
      <p:sp>
        <p:nvSpPr>
          <p:cNvPr id="13" name="Shape 7"/>
          <p:cNvSpPr/>
          <p:nvPr/>
        </p:nvSpPr>
        <p:spPr>
          <a:xfrm>
            <a:off x="8138160" y="3611880"/>
            <a:ext cx="1508760" cy="1417320"/>
          </a:xfrm>
          <a:prstGeom prst="roundRect">
            <a:avLst>
              <a:gd name="adj" fmla="val 10323"/>
            </a:avLst>
          </a:prstGeom>
          <a:solidFill>
            <a:srgbClr val="1F1F27"/>
          </a:solidFill>
          <a:ln w="9525">
            <a:solidFill>
              <a:srgbClr val="2E2E38"/>
            </a:solidFill>
            <a:prstDash val="solid"/>
          </a:ln>
        </p:spPr>
      </p:sp>
      <p:sp>
        <p:nvSpPr>
          <p:cNvPr id="14" name="Shape 8"/>
          <p:cNvSpPr/>
          <p:nvPr/>
        </p:nvSpPr>
        <p:spPr>
          <a:xfrm>
            <a:off x="8622792" y="3749040"/>
            <a:ext cx="530352" cy="530352"/>
          </a:xfrm>
          <a:prstGeom prst="ellipse">
            <a:avLst/>
          </a:prstGeom>
          <a:solidFill>
            <a:srgbClr val="FF7A3D"/>
          </a:solidFill>
          <a:ln/>
        </p:spPr>
      </p:sp>
      <p:pic>
        <p:nvPicPr>
          <p:cNvPr id="15" name="Image 4" descr="preencoded.png">    </p:cNvPr>
          <p:cNvPicPr>
            <a:picLocks noChangeAspect="1"/>
          </p:cNvPicPr>
          <p:nvPr/>
        </p:nvPicPr>
        <p:blipFill>
          <a:blip r:embed="rId6"/>
          <a:stretch>
            <a:fillRect/>
          </a:stretch>
        </p:blipFill>
        <p:spPr>
          <a:xfrm>
            <a:off x="8760684" y="3886932"/>
            <a:ext cx="254569" cy="254569"/>
          </a:xfrm>
          <a:prstGeom prst="rect">
            <a:avLst/>
          </a:prstGeom>
        </p:spPr>
      </p:pic>
      <p:sp>
        <p:nvSpPr>
          <p:cNvPr id="16" name="Text 9"/>
          <p:cNvSpPr txBox="1"/>
          <p:nvPr/>
        </p:nvSpPr>
        <p:spPr>
          <a:xfrm>
            <a:off x="8138160" y="4370832"/>
            <a:ext cx="150876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Infuse ou VLC</a:t>
            </a:r>
            <a:endParaRPr lang="en-US" sz="1300" dirty="0"/>
          </a:p>
        </p:txBody>
      </p:sp>
      <p:sp>
        <p:nvSpPr>
          <p:cNvPr id="17" name="Text 10"/>
          <p:cNvSpPr txBox="1"/>
          <p:nvPr/>
        </p:nvSpPr>
        <p:spPr>
          <a:xfrm>
            <a:off x="8138160" y="4645152"/>
            <a:ext cx="150876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la vidéo s'ouvre</a:t>
            </a:r>
            <a:endParaRPr lang="en-US" sz="1100" dirty="0"/>
          </a:p>
        </p:txBody>
      </p:sp>
      <p:pic>
        <p:nvPicPr>
          <p:cNvPr id="18" name="Image 5" descr="preencoded.png">    </p:cNvPr>
          <p:cNvPicPr>
            <a:picLocks noChangeAspect="1"/>
          </p:cNvPicPr>
          <p:nvPr/>
        </p:nvPicPr>
        <p:blipFill>
          <a:blip r:embed="rId7"/>
          <a:stretch>
            <a:fillRect/>
          </a:stretch>
        </p:blipFill>
        <p:spPr>
          <a:xfrm>
            <a:off x="9701784" y="4206240"/>
            <a:ext cx="219456" cy="219456"/>
          </a:xfrm>
          <a:prstGeom prst="rect">
            <a:avLst/>
          </a:prstGeom>
        </p:spPr>
      </p:pic>
      <p:sp>
        <p:nvSpPr>
          <p:cNvPr id="19" name="Shape 11"/>
          <p:cNvSpPr/>
          <p:nvPr/>
        </p:nvSpPr>
        <p:spPr>
          <a:xfrm>
            <a:off x="9966960" y="3611880"/>
            <a:ext cx="1508760" cy="1417320"/>
          </a:xfrm>
          <a:prstGeom prst="roundRect">
            <a:avLst>
              <a:gd name="adj" fmla="val 10323"/>
            </a:avLst>
          </a:prstGeom>
          <a:solidFill>
            <a:srgbClr val="1F1F27"/>
          </a:solidFill>
          <a:ln w="9525">
            <a:solidFill>
              <a:srgbClr val="2E2E38"/>
            </a:solidFill>
            <a:prstDash val="solid"/>
          </a:ln>
        </p:spPr>
      </p:sp>
      <p:sp>
        <p:nvSpPr>
          <p:cNvPr id="20" name="Shape 12"/>
          <p:cNvSpPr/>
          <p:nvPr/>
        </p:nvSpPr>
        <p:spPr>
          <a:xfrm>
            <a:off x="10451592" y="3749040"/>
            <a:ext cx="530352" cy="530352"/>
          </a:xfrm>
          <a:prstGeom prst="ellipse">
            <a:avLst/>
          </a:prstGeom>
          <a:solidFill>
            <a:srgbClr val="FF7A3D"/>
          </a:solidFill>
          <a:ln/>
        </p:spPr>
      </p:sp>
      <p:pic>
        <p:nvPicPr>
          <p:cNvPr id="21" name="Image 6" descr="preencoded.png">    </p:cNvPr>
          <p:cNvPicPr>
            <a:picLocks noChangeAspect="1"/>
          </p:cNvPicPr>
          <p:nvPr/>
        </p:nvPicPr>
        <p:blipFill>
          <a:blip r:embed="rId8"/>
          <a:stretch>
            <a:fillRect/>
          </a:stretch>
        </p:blipFill>
        <p:spPr>
          <a:xfrm>
            <a:off x="10589484" y="3886932"/>
            <a:ext cx="254569" cy="254569"/>
          </a:xfrm>
          <a:prstGeom prst="rect">
            <a:avLst/>
          </a:prstGeom>
        </p:spPr>
      </p:pic>
      <p:sp>
        <p:nvSpPr>
          <p:cNvPr id="22" name="Text 13"/>
          <p:cNvSpPr txBox="1"/>
          <p:nvPr/>
        </p:nvSpPr>
        <p:spPr>
          <a:xfrm>
            <a:off x="9966960" y="4370832"/>
            <a:ext cx="150876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Lecture</a:t>
            </a:r>
            <a:endParaRPr lang="en-US" sz="1300" dirty="0"/>
          </a:p>
        </p:txBody>
      </p:sp>
      <p:sp>
        <p:nvSpPr>
          <p:cNvPr id="23" name="Text 14"/>
          <p:cNvSpPr txBox="1"/>
          <p:nvPr/>
        </p:nvSpPr>
        <p:spPr>
          <a:xfrm>
            <a:off x="9966960" y="4645152"/>
            <a:ext cx="150876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sans rien chercher</a:t>
            </a:r>
            <a:endParaRPr lang="en-US" sz="1100" dirty="0"/>
          </a:p>
        </p:txBody>
      </p:sp>
      <p:sp>
        <p:nvSpPr>
          <p:cNvPr id="24" name="Text 15"/>
          <p:cNvSpPr txBox="1"/>
          <p:nvPr/>
        </p:nvSpPr>
        <p:spPr>
          <a:xfrm>
            <a:off x="6309360" y="5230368"/>
            <a:ext cx="5257800" cy="40233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4K, 1080p</a:t>
            </a:r>
            <a:pPr indent="0" marL="0">
              <a:buNone/>
            </a:pPr>
            <a:r>
              <a:rPr lang="en-US" sz="1200" dirty="0">
                <a:solidFill>
                  <a:srgbClr val="A4A4B2"/>
                </a:solidFill>
                <a:latin typeface="Arial" pitchFamily="34" charset="0"/>
                <a:ea typeface="Arial" pitchFamily="34" charset="-122"/>
                <a:cs typeface="Arial" pitchFamily="34" charset="-120"/>
              </a:rPr>
              <a:t> en badge sur chaque fichier · </a:t>
            </a:r>
            <a:pPr indent="0" marL="0">
              <a:buNone/>
            </a:pPr>
            <a:r>
              <a:rPr lang="en-US" sz="1200" b="1" dirty="0">
                <a:solidFill>
                  <a:srgbClr val="FFA24A"/>
                </a:solidFill>
                <a:latin typeface="Arial" pitchFamily="34" charset="0"/>
                <a:ea typeface="Arial" pitchFamily="34" charset="-122"/>
                <a:cs typeface="Arial" pitchFamily="34" charset="-120"/>
              </a:rPr>
              <a:t>liseré orange</a:t>
            </a:r>
            <a:pPr indent="0" marL="0">
              <a:buNone/>
            </a:pPr>
            <a:r>
              <a:rPr lang="en-US" sz="1200" dirty="0">
                <a:solidFill>
                  <a:srgbClr val="A4A4B2"/>
                </a:solidFill>
                <a:latin typeface="Arial" pitchFamily="34" charset="0"/>
                <a:ea typeface="Arial" pitchFamily="34" charset="-122"/>
                <a:cs typeface="Arial" pitchFamily="34" charset="-120"/>
              </a:rPr>
              <a:t> pour ta liste · un œil sur ce que tu as vu</a:t>
            </a:r>
            <a:endParaRPr lang="en-US" sz="1200" dirty="0"/>
          </a:p>
        </p:txBody>
      </p:sp>
      <p:sp>
        <p:nvSpPr>
          <p:cNvPr id="25" name="Text 16"/>
          <p:cNvSpPr txBox="1"/>
          <p:nvPr/>
        </p:nvSpPr>
        <p:spPr>
          <a:xfrm>
            <a:off x="6309360" y="5742432"/>
            <a:ext cx="5257800" cy="402336"/>
          </a:xfrm>
          <a:prstGeom prst="rect">
            <a:avLst/>
          </a:prstGeom>
          <a:noFill/>
          <a:ln/>
        </p:spPr>
        <p:txBody>
          <a:bodyPr wrap="square" lIns="0" tIns="0" rIns="0" bIns="0" rtlCol="0" anchor="t"/>
          <a:lstStyle/>
          <a:p>
            <a:pPr indent="0" marL="0">
              <a:buNone/>
            </a:pPr>
            <a:r>
              <a:rPr lang="en-US" sz="1200" b="1" dirty="0">
                <a:solidFill>
                  <a:srgbClr val="FFA24A"/>
                </a:solidFill>
                <a:latin typeface="Arial" pitchFamily="34" charset="0"/>
                <a:ea typeface="Arial" pitchFamily="34" charset="-122"/>
                <a:cs typeface="Arial" pitchFamily="34" charset="-120"/>
              </a:rPr>
              <a:t>Tes vidéos de famille </a:t>
            </a:r>
            <a:pPr indent="0" marL="0">
              <a:buNone/>
            </a:pPr>
            <a:r>
              <a:rPr lang="en-US" sz="1200" dirty="0">
                <a:solidFill>
                  <a:srgbClr val="A4A4B2"/>
                </a:solidFill>
                <a:latin typeface="Arial" pitchFamily="34" charset="0"/>
                <a:ea typeface="Arial" pitchFamily="34" charset="-122"/>
                <a:cs typeface="Arial" pitchFamily="34" charset="-120"/>
              </a:rPr>
              <a:t>ont leur dossier à part, sur l'iPhone comme sur l'Apple TV.</a:t>
            </a:r>
            <a:endParaRPr lang="en-US" sz="1200" dirty="0"/>
          </a:p>
        </p:txBody>
      </p:sp>
      <p:sp>
        <p:nvSpPr>
          <p:cNvPr id="26" name="Text 17"/>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ENTRE TES APPAREILS APPLE</a:t>
            </a:r>
            <a:endParaRPr lang="en-US" sz="1200" dirty="0"/>
          </a:p>
        </p:txBody>
      </p:sp>
      <p:sp>
        <p:nvSpPr>
          <p:cNvPr id="3" name="Text 1"/>
          <p:cNvSpPr txBox="1"/>
          <p:nvPr/>
        </p:nvSpPr>
        <p:spPr>
          <a:xfrm>
            <a:off x="640080" y="822960"/>
            <a:ext cx="10972800" cy="6400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La même soirée, sur tous tes écrans.</a:t>
            </a:r>
            <a:endParaRPr lang="en-US" sz="3400" dirty="0"/>
          </a:p>
        </p:txBody>
      </p:sp>
      <p:pic>
        <p:nvPicPr>
          <p:cNvPr id="4" name="Image 0" descr="/Users/patrick/Github/Seance/.build/presentation/tmp/tel-cesoir.png">    </p:cNvPr>
          <p:cNvPicPr>
            <a:picLocks noChangeAspect="1"/>
          </p:cNvPicPr>
          <p:nvPr/>
        </p:nvPicPr>
        <p:blipFill>
          <a:blip r:embed="rId2"/>
          <a:stretch>
            <a:fillRect/>
          </a:stretch>
        </p:blipFill>
        <p:spPr>
          <a:xfrm>
            <a:off x="914400" y="3017520"/>
            <a:ext cx="1101293" cy="2331720"/>
          </a:xfrm>
          <a:prstGeom prst="rect">
            <a:avLst/>
          </a:prstGeom>
        </p:spPr>
      </p:pic>
      <p:sp>
        <p:nvSpPr>
          <p:cNvPr id="5" name="Shape 2"/>
          <p:cNvSpPr/>
          <p:nvPr/>
        </p:nvSpPr>
        <p:spPr>
          <a:xfrm>
            <a:off x="1465047" y="2743200"/>
            <a:ext cx="0" cy="201168"/>
          </a:xfrm>
          <a:prstGeom prst="line">
            <a:avLst/>
          </a:prstGeom>
          <a:noFill/>
          <a:ln w="22225">
            <a:solidFill>
              <a:srgbClr val="FF7A3D"/>
            </a:solidFill>
            <a:prstDash val="dash"/>
          </a:ln>
        </p:spPr>
      </p:sp>
      <p:sp>
        <p:nvSpPr>
          <p:cNvPr id="6" name="Shape 3"/>
          <p:cNvSpPr/>
          <p:nvPr/>
        </p:nvSpPr>
        <p:spPr>
          <a:xfrm>
            <a:off x="1410183" y="2889504"/>
            <a:ext cx="109728" cy="109728"/>
          </a:xfrm>
          <a:prstGeom prst="ellipse">
            <a:avLst/>
          </a:prstGeom>
          <a:solidFill>
            <a:srgbClr val="FF7A3D"/>
          </a:solidFill>
          <a:ln/>
        </p:spPr>
      </p:sp>
      <p:sp>
        <p:nvSpPr>
          <p:cNvPr id="7" name="Text 4"/>
          <p:cNvSpPr txBox="1"/>
          <p:nvPr/>
        </p:nvSpPr>
        <p:spPr>
          <a:xfrm>
            <a:off x="184887" y="5486400"/>
            <a:ext cx="2560320"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iPhone</a:t>
            </a:r>
            <a:endParaRPr lang="en-US" sz="1500" dirty="0"/>
          </a:p>
        </p:txBody>
      </p:sp>
      <p:sp>
        <p:nvSpPr>
          <p:cNvPr id="8" name="Text 5"/>
          <p:cNvSpPr txBox="1"/>
          <p:nvPr/>
        </p:nvSpPr>
        <p:spPr>
          <a:xfrm>
            <a:off x="184887" y="5779008"/>
            <a:ext cx="256032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Tu notes, tu coches, tu prévois</a:t>
            </a:r>
            <a:endParaRPr lang="en-US" sz="1100" dirty="0"/>
          </a:p>
        </p:txBody>
      </p:sp>
      <p:pic>
        <p:nvPicPr>
          <p:cNvPr id="9" name="Image 1" descr="/Users/patrick/Github/Seance/.build/presentation/tmp/ipad.png">    </p:cNvPr>
          <p:cNvPicPr>
            <a:picLocks noChangeAspect="1"/>
          </p:cNvPicPr>
          <p:nvPr/>
        </p:nvPicPr>
        <p:blipFill>
          <a:blip r:embed="rId3"/>
          <a:stretch>
            <a:fillRect/>
          </a:stretch>
        </p:blipFill>
        <p:spPr>
          <a:xfrm>
            <a:off x="2606040" y="3470206"/>
            <a:ext cx="2651760" cy="1879034"/>
          </a:xfrm>
          <a:prstGeom prst="rect">
            <a:avLst/>
          </a:prstGeom>
        </p:spPr>
      </p:pic>
      <p:sp>
        <p:nvSpPr>
          <p:cNvPr id="10" name="Shape 6"/>
          <p:cNvSpPr/>
          <p:nvPr/>
        </p:nvSpPr>
        <p:spPr>
          <a:xfrm>
            <a:off x="3931920" y="2743200"/>
            <a:ext cx="0" cy="653854"/>
          </a:xfrm>
          <a:prstGeom prst="line">
            <a:avLst/>
          </a:prstGeom>
          <a:noFill/>
          <a:ln w="22225">
            <a:solidFill>
              <a:srgbClr val="FF7A3D"/>
            </a:solidFill>
            <a:prstDash val="dash"/>
          </a:ln>
        </p:spPr>
      </p:sp>
      <p:sp>
        <p:nvSpPr>
          <p:cNvPr id="11" name="Shape 7"/>
          <p:cNvSpPr/>
          <p:nvPr/>
        </p:nvSpPr>
        <p:spPr>
          <a:xfrm>
            <a:off x="3877056" y="3342190"/>
            <a:ext cx="109728" cy="109728"/>
          </a:xfrm>
          <a:prstGeom prst="ellipse">
            <a:avLst/>
          </a:prstGeom>
          <a:solidFill>
            <a:srgbClr val="FF7A3D"/>
          </a:solidFill>
          <a:ln/>
        </p:spPr>
      </p:sp>
      <p:sp>
        <p:nvSpPr>
          <p:cNvPr id="12" name="Text 8"/>
          <p:cNvSpPr txBox="1"/>
          <p:nvPr/>
        </p:nvSpPr>
        <p:spPr>
          <a:xfrm>
            <a:off x="2651760" y="5486400"/>
            <a:ext cx="2560320"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iPad</a:t>
            </a:r>
            <a:endParaRPr lang="en-US" sz="1500" dirty="0"/>
          </a:p>
        </p:txBody>
      </p:sp>
      <p:sp>
        <p:nvSpPr>
          <p:cNvPr id="13" name="Text 9"/>
          <p:cNvSpPr txBox="1"/>
          <p:nvPr/>
        </p:nvSpPr>
        <p:spPr>
          <a:xfrm>
            <a:off x="2651760" y="5779008"/>
            <a:ext cx="256032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Barre latérale, grandes grilles</a:t>
            </a:r>
            <a:endParaRPr lang="en-US" sz="1100" dirty="0"/>
          </a:p>
        </p:txBody>
      </p:sp>
      <p:pic>
        <p:nvPicPr>
          <p:cNvPr id="14" name="Image 2" descr="/Users/patrick/Github/Seance/.build/presentation/tmp/mac.png">    </p:cNvPr>
          <p:cNvPicPr>
            <a:picLocks noChangeAspect="1"/>
          </p:cNvPicPr>
          <p:nvPr/>
        </p:nvPicPr>
        <p:blipFill>
          <a:blip r:embed="rId4"/>
          <a:stretch>
            <a:fillRect/>
          </a:stretch>
        </p:blipFill>
        <p:spPr>
          <a:xfrm>
            <a:off x="5623560" y="3502829"/>
            <a:ext cx="2926080" cy="1846411"/>
          </a:xfrm>
          <a:prstGeom prst="rect">
            <a:avLst/>
          </a:prstGeom>
        </p:spPr>
      </p:pic>
      <p:sp>
        <p:nvSpPr>
          <p:cNvPr id="15" name="Shape 10"/>
          <p:cNvSpPr/>
          <p:nvPr/>
        </p:nvSpPr>
        <p:spPr>
          <a:xfrm>
            <a:off x="7086600" y="2743200"/>
            <a:ext cx="0" cy="686477"/>
          </a:xfrm>
          <a:prstGeom prst="line">
            <a:avLst/>
          </a:prstGeom>
          <a:noFill/>
          <a:ln w="22225">
            <a:solidFill>
              <a:srgbClr val="FF7A3D"/>
            </a:solidFill>
            <a:prstDash val="dash"/>
          </a:ln>
        </p:spPr>
      </p:sp>
      <p:sp>
        <p:nvSpPr>
          <p:cNvPr id="16" name="Shape 11"/>
          <p:cNvSpPr/>
          <p:nvPr/>
        </p:nvSpPr>
        <p:spPr>
          <a:xfrm>
            <a:off x="7031736" y="3374813"/>
            <a:ext cx="109728" cy="109728"/>
          </a:xfrm>
          <a:prstGeom prst="ellipse">
            <a:avLst/>
          </a:prstGeom>
          <a:solidFill>
            <a:srgbClr val="FF7A3D"/>
          </a:solidFill>
          <a:ln/>
        </p:spPr>
      </p:sp>
      <p:sp>
        <p:nvSpPr>
          <p:cNvPr id="17" name="Text 12"/>
          <p:cNvSpPr txBox="1"/>
          <p:nvPr/>
        </p:nvSpPr>
        <p:spPr>
          <a:xfrm>
            <a:off x="5806440" y="5486400"/>
            <a:ext cx="2560320"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Mac</a:t>
            </a:r>
            <a:endParaRPr lang="en-US" sz="1500" dirty="0"/>
          </a:p>
        </p:txBody>
      </p:sp>
      <p:sp>
        <p:nvSpPr>
          <p:cNvPr id="18" name="Text 13"/>
          <p:cNvSpPr txBox="1"/>
          <p:nvPr/>
        </p:nvSpPr>
        <p:spPr>
          <a:xfrm>
            <a:off x="5806440" y="5779008"/>
            <a:ext cx="256032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La même app, au clavier</a:t>
            </a:r>
            <a:endParaRPr lang="en-US" sz="1100" dirty="0"/>
          </a:p>
        </p:txBody>
      </p:sp>
      <p:pic>
        <p:nvPicPr>
          <p:cNvPr id="19" name="Image 3" descr="/Users/patrick/Github/Seance/.build/presentation/tmp/tv-cesoir.png">    </p:cNvPr>
          <p:cNvPicPr>
            <a:picLocks noChangeAspect="1"/>
          </p:cNvPicPr>
          <p:nvPr/>
        </p:nvPicPr>
        <p:blipFill>
          <a:blip r:embed="rId5"/>
          <a:stretch>
            <a:fillRect/>
          </a:stretch>
        </p:blipFill>
        <p:spPr>
          <a:xfrm>
            <a:off x="9052560" y="3834823"/>
            <a:ext cx="2514600" cy="1514417"/>
          </a:xfrm>
          <a:prstGeom prst="rect">
            <a:avLst/>
          </a:prstGeom>
        </p:spPr>
      </p:pic>
      <p:sp>
        <p:nvSpPr>
          <p:cNvPr id="20" name="Shape 14"/>
          <p:cNvSpPr/>
          <p:nvPr/>
        </p:nvSpPr>
        <p:spPr>
          <a:xfrm>
            <a:off x="10309860" y="2487168"/>
            <a:ext cx="0" cy="1274503"/>
          </a:xfrm>
          <a:prstGeom prst="line">
            <a:avLst/>
          </a:prstGeom>
          <a:noFill/>
          <a:ln w="22225">
            <a:solidFill>
              <a:srgbClr val="22D17A"/>
            </a:solidFill>
            <a:prstDash val="solid"/>
          </a:ln>
        </p:spPr>
      </p:sp>
      <p:sp>
        <p:nvSpPr>
          <p:cNvPr id="21" name="Shape 15"/>
          <p:cNvSpPr/>
          <p:nvPr/>
        </p:nvSpPr>
        <p:spPr>
          <a:xfrm>
            <a:off x="10254996" y="3706807"/>
            <a:ext cx="109728" cy="109728"/>
          </a:xfrm>
          <a:prstGeom prst="ellipse">
            <a:avLst/>
          </a:prstGeom>
          <a:solidFill>
            <a:srgbClr val="22D17A"/>
          </a:solidFill>
          <a:ln/>
        </p:spPr>
      </p:sp>
      <p:sp>
        <p:nvSpPr>
          <p:cNvPr id="22" name="Text 16"/>
          <p:cNvSpPr txBox="1"/>
          <p:nvPr/>
        </p:nvSpPr>
        <p:spPr>
          <a:xfrm>
            <a:off x="9029700" y="5486400"/>
            <a:ext cx="2560320" cy="274320"/>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Apple TV</a:t>
            </a:r>
            <a:endParaRPr lang="en-US" sz="1500" dirty="0"/>
          </a:p>
        </p:txBody>
      </p:sp>
      <p:sp>
        <p:nvSpPr>
          <p:cNvPr id="23" name="Text 17"/>
          <p:cNvSpPr txBox="1"/>
          <p:nvPr/>
        </p:nvSpPr>
        <p:spPr>
          <a:xfrm>
            <a:off x="9029700" y="5779008"/>
            <a:ext cx="2560320" cy="274320"/>
          </a:xfrm>
          <a:prstGeom prst="rect">
            <a:avLst/>
          </a:prstGeom>
          <a:noFill/>
          <a:ln/>
        </p:spPr>
        <p:txBody>
          <a:bodyPr wrap="square" lIns="0" tIns="0" rIns="0" bIns="0" rtlCol="0" anchor="t"/>
          <a:lstStyle/>
          <a:p>
            <a:pPr algn="ctr" indent="0" marL="0">
              <a:buNone/>
            </a:pPr>
            <a:r>
              <a:rPr lang="en-US" sz="1100" dirty="0">
                <a:solidFill>
                  <a:srgbClr val="A4A4B2"/>
                </a:solidFill>
                <a:latin typeface="Arial" pitchFamily="34" charset="0"/>
                <a:ea typeface="Arial" pitchFamily="34" charset="-122"/>
                <a:cs typeface="Arial" pitchFamily="34" charset="-120"/>
              </a:rPr>
              <a:t>Du canapé, à la télécommande</a:t>
            </a:r>
            <a:endParaRPr lang="en-US" sz="1100" dirty="0"/>
          </a:p>
        </p:txBody>
      </p:sp>
      <p:sp>
        <p:nvSpPr>
          <p:cNvPr id="24" name="Shape 18"/>
          <p:cNvSpPr/>
          <p:nvPr/>
        </p:nvSpPr>
        <p:spPr>
          <a:xfrm>
            <a:off x="1465047" y="2743200"/>
            <a:ext cx="5621553" cy="0"/>
          </a:xfrm>
          <a:prstGeom prst="line">
            <a:avLst/>
          </a:prstGeom>
          <a:noFill/>
          <a:ln w="22225">
            <a:solidFill>
              <a:srgbClr val="FF7A3D"/>
            </a:solidFill>
            <a:prstDash val="dash"/>
          </a:ln>
        </p:spPr>
      </p:sp>
      <p:sp>
        <p:nvSpPr>
          <p:cNvPr id="25" name="Shape 19"/>
          <p:cNvSpPr/>
          <p:nvPr/>
        </p:nvSpPr>
        <p:spPr>
          <a:xfrm>
            <a:off x="4297680" y="2487168"/>
            <a:ext cx="0" cy="256032"/>
          </a:xfrm>
          <a:prstGeom prst="line">
            <a:avLst/>
          </a:prstGeom>
          <a:noFill/>
          <a:ln w="22225">
            <a:solidFill>
              <a:srgbClr val="FF7A3D"/>
            </a:solidFill>
            <a:prstDash val="dash"/>
          </a:ln>
        </p:spPr>
      </p:sp>
      <p:sp>
        <p:nvSpPr>
          <p:cNvPr id="26" name="Shape 20"/>
          <p:cNvSpPr/>
          <p:nvPr/>
        </p:nvSpPr>
        <p:spPr>
          <a:xfrm>
            <a:off x="1920240" y="1691640"/>
            <a:ext cx="4754880" cy="795528"/>
          </a:xfrm>
          <a:prstGeom prst="roundRect">
            <a:avLst>
              <a:gd name="adj" fmla="val 18391"/>
            </a:avLst>
          </a:prstGeom>
          <a:solidFill>
            <a:srgbClr val="1F1F27"/>
          </a:solidFill>
          <a:ln w="9525">
            <a:solidFill>
              <a:srgbClr val="2E2E38"/>
            </a:solidFill>
            <a:prstDash val="solid"/>
          </a:ln>
        </p:spPr>
      </p:sp>
      <p:pic>
        <p:nvPicPr>
          <p:cNvPr id="27" name="Image 4" descr="preencoded.png">    </p:cNvPr>
          <p:cNvPicPr>
            <a:picLocks noChangeAspect="1"/>
          </p:cNvPicPr>
          <p:nvPr/>
        </p:nvPicPr>
        <p:blipFill>
          <a:blip r:embed="rId6"/>
          <a:stretch>
            <a:fillRect/>
          </a:stretch>
        </p:blipFill>
        <p:spPr>
          <a:xfrm>
            <a:off x="2148840" y="1883664"/>
            <a:ext cx="420624" cy="420624"/>
          </a:xfrm>
          <a:prstGeom prst="rect">
            <a:avLst/>
          </a:prstGeom>
        </p:spPr>
      </p:pic>
      <p:sp>
        <p:nvSpPr>
          <p:cNvPr id="28" name="Text 21"/>
          <p:cNvSpPr txBox="1"/>
          <p:nvPr/>
        </p:nvSpPr>
        <p:spPr>
          <a:xfrm>
            <a:off x="2743200" y="1801368"/>
            <a:ext cx="384048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iCloud Drive</a:t>
            </a:r>
            <a:endParaRPr lang="en-US" sz="1500" dirty="0"/>
          </a:p>
        </p:txBody>
      </p:sp>
      <p:sp>
        <p:nvSpPr>
          <p:cNvPr id="29" name="Text 22"/>
          <p:cNvSpPr txBox="1"/>
          <p:nvPr/>
        </p:nvSpPr>
        <p:spPr>
          <a:xfrm>
            <a:off x="2743200" y="2093976"/>
            <a:ext cx="3840480" cy="274320"/>
          </a:xfrm>
          <a:prstGeom prst="rect">
            <a:avLst/>
          </a:prstGeom>
          <a:noFill/>
          <a:ln/>
        </p:spPr>
        <p:txBody>
          <a:bodyPr wrap="square" lIns="0" tIns="0" rIns="0" bIns="0" rtlCol="0" anchor="t"/>
          <a:lstStyle/>
          <a:p>
            <a:pPr indent="0" marL="0">
              <a:buNone/>
            </a:pPr>
            <a:r>
              <a:rPr lang="en-US" sz="1100" dirty="0">
                <a:solidFill>
                  <a:srgbClr val="A4A4B2"/>
                </a:solidFill>
                <a:latin typeface="Arial" pitchFamily="34" charset="0"/>
                <a:ea typeface="Arial" pitchFamily="34" charset="-122"/>
                <a:cs typeface="Arial" pitchFamily="34" charset="-120"/>
              </a:rPr>
              <a:t>Ce que tu notes sur l'un arrive sur les autres, tout seul.</a:t>
            </a:r>
            <a:endParaRPr lang="en-US" sz="1100" dirty="0"/>
          </a:p>
        </p:txBody>
      </p:sp>
      <p:sp>
        <p:nvSpPr>
          <p:cNvPr id="30" name="Shape 23"/>
          <p:cNvSpPr/>
          <p:nvPr/>
        </p:nvSpPr>
        <p:spPr>
          <a:xfrm>
            <a:off x="8663940" y="1691640"/>
            <a:ext cx="3291840" cy="795528"/>
          </a:xfrm>
          <a:prstGeom prst="roundRect">
            <a:avLst>
              <a:gd name="adj" fmla="val 18391"/>
            </a:avLst>
          </a:prstGeom>
          <a:solidFill>
            <a:srgbClr val="1F1F27"/>
          </a:solidFill>
          <a:ln w="9525">
            <a:solidFill>
              <a:srgbClr val="2E2E38"/>
            </a:solidFill>
            <a:prstDash val="solid"/>
          </a:ln>
        </p:spPr>
      </p:sp>
      <p:pic>
        <p:nvPicPr>
          <p:cNvPr id="31" name="Image 5" descr="preencoded.png">    </p:cNvPr>
          <p:cNvPicPr>
            <a:picLocks noChangeAspect="1"/>
          </p:cNvPicPr>
          <p:nvPr/>
        </p:nvPicPr>
        <p:blipFill>
          <a:blip r:embed="rId7"/>
          <a:stretch>
            <a:fillRect/>
          </a:stretch>
        </p:blipFill>
        <p:spPr>
          <a:xfrm>
            <a:off x="8892540" y="1883664"/>
            <a:ext cx="420624" cy="420624"/>
          </a:xfrm>
          <a:prstGeom prst="rect">
            <a:avLst/>
          </a:prstGeom>
        </p:spPr>
      </p:pic>
      <p:sp>
        <p:nvSpPr>
          <p:cNvPr id="32" name="Text 24"/>
          <p:cNvSpPr txBox="1"/>
          <p:nvPr/>
        </p:nvSpPr>
        <p:spPr>
          <a:xfrm>
            <a:off x="9486900" y="1801368"/>
            <a:ext cx="2377440"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Ton NAS</a:t>
            </a:r>
            <a:endParaRPr lang="en-US" sz="1500" dirty="0"/>
          </a:p>
        </p:txBody>
      </p:sp>
      <p:sp>
        <p:nvSpPr>
          <p:cNvPr id="33" name="Text 25"/>
          <p:cNvSpPr txBox="1"/>
          <p:nvPr/>
        </p:nvSpPr>
        <p:spPr>
          <a:xfrm>
            <a:off x="9486900" y="2093976"/>
            <a:ext cx="2377440" cy="274320"/>
          </a:xfrm>
          <a:prstGeom prst="rect">
            <a:avLst/>
          </a:prstGeom>
          <a:noFill/>
          <a:ln/>
        </p:spPr>
        <p:txBody>
          <a:bodyPr wrap="square" lIns="0" tIns="0" rIns="0" bIns="0" rtlCol="0" anchor="t"/>
          <a:lstStyle/>
          <a:p>
            <a:pPr indent="0" marL="0">
              <a:buNone/>
            </a:pPr>
            <a:r>
              <a:rPr lang="en-US" sz="1100" dirty="0">
                <a:solidFill>
                  <a:srgbClr val="A4A4B2"/>
                </a:solidFill>
                <a:latin typeface="Arial" pitchFamily="34" charset="0"/>
                <a:ea typeface="Arial" pitchFamily="34" charset="-122"/>
                <a:cs typeface="Arial" pitchFamily="34" charset="-120"/>
              </a:rPr>
              <a:t>La vidéothèque, et les listes de la TV.</a:t>
            </a:r>
            <a:endParaRPr lang="en-US" sz="1100" dirty="0"/>
          </a:p>
        </p:txBody>
      </p:sp>
      <p:sp>
        <p:nvSpPr>
          <p:cNvPr id="34" name="Shape 26"/>
          <p:cNvSpPr/>
          <p:nvPr/>
        </p:nvSpPr>
        <p:spPr>
          <a:xfrm>
            <a:off x="640080" y="6144768"/>
            <a:ext cx="3931920" cy="384048"/>
          </a:xfrm>
          <a:prstGeom prst="roundRect">
            <a:avLst>
              <a:gd name="adj" fmla="val 50000"/>
            </a:avLst>
          </a:prstGeom>
          <a:solidFill>
            <a:srgbClr val="1F1F27"/>
          </a:solidFill>
          <a:ln w="9525">
            <a:solidFill>
              <a:srgbClr val="2E2E38"/>
            </a:solidFill>
            <a:prstDash val="solid"/>
          </a:ln>
        </p:spPr>
      </p:sp>
      <p:sp>
        <p:nvSpPr>
          <p:cNvPr id="35" name="Text 27"/>
          <p:cNvSpPr txBox="1"/>
          <p:nvPr/>
        </p:nvSpPr>
        <p:spPr>
          <a:xfrm>
            <a:off x="640080" y="6144768"/>
            <a:ext cx="3931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Un code à six chiffres, d'un appareil à l'autre</a:t>
            </a:r>
            <a:endParaRPr lang="en-US" sz="1200" dirty="0"/>
          </a:p>
        </p:txBody>
      </p:sp>
      <p:sp>
        <p:nvSpPr>
          <p:cNvPr id="36" name="Shape 28"/>
          <p:cNvSpPr/>
          <p:nvPr/>
        </p:nvSpPr>
        <p:spPr>
          <a:xfrm>
            <a:off x="4709160" y="6144768"/>
            <a:ext cx="2651760" cy="384048"/>
          </a:xfrm>
          <a:prstGeom prst="roundRect">
            <a:avLst>
              <a:gd name="adj" fmla="val 50000"/>
            </a:avLst>
          </a:prstGeom>
          <a:solidFill>
            <a:srgbClr val="1F1F27"/>
          </a:solidFill>
          <a:ln w="9525">
            <a:solidFill>
              <a:srgbClr val="2E2E38"/>
            </a:solidFill>
            <a:prstDash val="solid"/>
          </a:ln>
        </p:spPr>
      </p:sp>
      <p:sp>
        <p:nvSpPr>
          <p:cNvPr id="37" name="Text 29"/>
          <p:cNvSpPr txBox="1"/>
          <p:nvPr/>
        </p:nvSpPr>
        <p:spPr>
          <a:xfrm>
            <a:off x="4709160" y="6144768"/>
            <a:ext cx="26517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AirDrop : tout dans un fichier</a:t>
            </a:r>
            <a:endParaRPr lang="en-US" sz="1200" dirty="0"/>
          </a:p>
        </p:txBody>
      </p:sp>
      <p:sp>
        <p:nvSpPr>
          <p:cNvPr id="38" name="Text 30"/>
          <p:cNvSpPr txBox="1"/>
          <p:nvPr/>
        </p:nvSpPr>
        <p:spPr>
          <a:xfrm>
            <a:off x="7589520" y="6089904"/>
            <a:ext cx="3977640" cy="457200"/>
          </a:xfrm>
          <a:prstGeom prst="rect">
            <a:avLst/>
          </a:prstGeom>
          <a:noFill/>
          <a:ln/>
        </p:spPr>
        <p:txBody>
          <a:bodyPr wrap="square" lIns="0" tIns="0" rIns="0" bIns="0" rtlCol="0" anchor="t"/>
          <a:lstStyle/>
          <a:p>
            <a:pPr indent="0" marL="0">
              <a:buNone/>
            </a:pPr>
            <a:r>
              <a:rPr lang="en-US" sz="1100" i="1" dirty="0">
                <a:solidFill>
                  <a:srgbClr val="A4A4B2"/>
                </a:solidFill>
                <a:latin typeface="Arial" pitchFamily="34" charset="0"/>
                <a:ea typeface="Arial" pitchFamily="34" charset="-122"/>
                <a:cs typeface="Arial" pitchFamily="34" charset="-120"/>
              </a:rPr>
              <a:t>Apple TV : mise en route par un code, puis ses listes se mettent à jour toutes seules par le NAS.</a:t>
            </a:r>
            <a:endParaRPr lang="en-US" sz="1100" dirty="0"/>
          </a:p>
        </p:txBody>
      </p:sp>
      <p:sp>
        <p:nvSpPr>
          <p:cNvPr id="39" name="Text 31"/>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NOUVEAU · APPLE TV</a:t>
            </a:r>
            <a:endParaRPr lang="en-US" sz="1200" dirty="0"/>
          </a:p>
        </p:txBody>
      </p:sp>
      <p:sp>
        <p:nvSpPr>
          <p:cNvPr id="3" name="Text 1"/>
          <p:cNvSpPr txBox="1"/>
          <p:nvPr/>
        </p:nvSpPr>
        <p:spPr>
          <a:xfrm>
            <a:off x="640080" y="868680"/>
            <a:ext cx="10972800" cy="6400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Séance, en grand, du canapé.</a:t>
            </a:r>
            <a:endParaRPr lang="en-US" sz="3400" dirty="0"/>
          </a:p>
        </p:txBody>
      </p:sp>
      <p:pic>
        <p:nvPicPr>
          <p:cNvPr id="4" name="Image 0" descr="/Users/patrick/Github/Seance/.build/presentation/tmp/tv-cesoir.png">    </p:cNvPr>
          <p:cNvPicPr>
            <a:picLocks noChangeAspect="1"/>
          </p:cNvPicPr>
          <p:nvPr/>
        </p:nvPicPr>
        <p:blipFill>
          <a:blip r:embed="rId2"/>
          <a:stretch>
            <a:fillRect/>
          </a:stretch>
        </p:blipFill>
        <p:spPr>
          <a:xfrm>
            <a:off x="640080" y="1783080"/>
            <a:ext cx="6858000" cy="4130227"/>
          </a:xfrm>
          <a:prstGeom prst="rect">
            <a:avLst/>
          </a:prstGeom>
        </p:spPr>
      </p:pic>
      <p:sp>
        <p:nvSpPr>
          <p:cNvPr id="5" name="Shape 2"/>
          <p:cNvSpPr/>
          <p:nvPr/>
        </p:nvSpPr>
        <p:spPr>
          <a:xfrm>
            <a:off x="7955280" y="1892808"/>
            <a:ext cx="530352" cy="530352"/>
          </a:xfrm>
          <a:prstGeom prst="ellipse">
            <a:avLst/>
          </a:prstGeom>
          <a:solidFill>
            <a:srgbClr val="FF7A3D"/>
          </a:solidFill>
          <a:ln/>
        </p:spPr>
      </p:sp>
      <p:pic>
        <p:nvPicPr>
          <p:cNvPr id="6" name="Image 1" descr="preencoded.png">    </p:cNvPr>
          <p:cNvPicPr>
            <a:picLocks noChangeAspect="1"/>
          </p:cNvPicPr>
          <p:nvPr/>
        </p:nvPicPr>
        <p:blipFill>
          <a:blip r:embed="rId3"/>
          <a:stretch>
            <a:fillRect/>
          </a:stretch>
        </p:blipFill>
        <p:spPr>
          <a:xfrm>
            <a:off x="8093172" y="2030700"/>
            <a:ext cx="254569" cy="254569"/>
          </a:xfrm>
          <a:prstGeom prst="rect">
            <a:avLst/>
          </a:prstGeom>
        </p:spPr>
      </p:pic>
      <p:sp>
        <p:nvSpPr>
          <p:cNvPr id="7" name="Text 3"/>
          <p:cNvSpPr txBox="1"/>
          <p:nvPr/>
        </p:nvSpPr>
        <p:spPr>
          <a:xfrm>
            <a:off x="8686800" y="1874520"/>
            <a:ext cx="292608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Le menu en haut</a:t>
            </a:r>
            <a:endParaRPr lang="en-US" sz="1600" dirty="0"/>
          </a:p>
        </p:txBody>
      </p:sp>
      <p:sp>
        <p:nvSpPr>
          <p:cNvPr id="8" name="Text 4"/>
          <p:cNvSpPr txBox="1"/>
          <p:nvPr/>
        </p:nvSpPr>
        <p:spPr>
          <a:xfrm>
            <a:off x="8686800" y="2185416"/>
            <a:ext cx="2926080" cy="548640"/>
          </a:xfrm>
          <a:prstGeom prst="rect">
            <a:avLst/>
          </a:prstGeom>
          <a:noFill/>
          <a:ln/>
        </p:spPr>
        <p:txBody>
          <a:bodyPr wrap="square" lIns="0" tIns="0" rIns="0" bIns="0" rtlCol="0" anchor="t"/>
          <a:lstStyle/>
          <a:p>
            <a:pPr indent="0" marL="0">
              <a:buNone/>
            </a:pPr>
            <a:r>
              <a:rPr lang="en-US" sz="1300" dirty="0">
                <a:solidFill>
                  <a:srgbClr val="A4A4B2"/>
                </a:solidFill>
                <a:latin typeface="Arial" pitchFamily="34" charset="0"/>
                <a:ea typeface="Arial" pitchFamily="34" charset="-122"/>
                <a:cs typeface="Arial" pitchFamily="34" charset="-120"/>
              </a:rPr>
              <a:t>Accueil, Ce soir, Mes listes, Explorer, Télé, NAS, Profil, Réglages — à l'horizontale, comme les grandes apps de télévision.</a:t>
            </a:r>
            <a:endParaRPr lang="en-US" sz="1300" dirty="0"/>
          </a:p>
        </p:txBody>
      </p:sp>
      <p:sp>
        <p:nvSpPr>
          <p:cNvPr id="9" name="Shape 5"/>
          <p:cNvSpPr/>
          <p:nvPr/>
        </p:nvSpPr>
        <p:spPr>
          <a:xfrm>
            <a:off x="7955280" y="3310128"/>
            <a:ext cx="530352" cy="530352"/>
          </a:xfrm>
          <a:prstGeom prst="ellipse">
            <a:avLst/>
          </a:prstGeom>
          <a:solidFill>
            <a:srgbClr val="FF7A3D"/>
          </a:solidFill>
          <a:ln/>
        </p:spPr>
      </p:sp>
      <p:pic>
        <p:nvPicPr>
          <p:cNvPr id="10" name="Image 2" descr="preencoded.png">    </p:cNvPr>
          <p:cNvPicPr>
            <a:picLocks noChangeAspect="1"/>
          </p:cNvPicPr>
          <p:nvPr/>
        </p:nvPicPr>
        <p:blipFill>
          <a:blip r:embed="rId4"/>
          <a:stretch>
            <a:fillRect/>
          </a:stretch>
        </p:blipFill>
        <p:spPr>
          <a:xfrm>
            <a:off x="8093172" y="3448020"/>
            <a:ext cx="254569" cy="254569"/>
          </a:xfrm>
          <a:prstGeom prst="rect">
            <a:avLst/>
          </a:prstGeom>
        </p:spPr>
      </p:pic>
      <p:sp>
        <p:nvSpPr>
          <p:cNvPr id="11" name="Text 6"/>
          <p:cNvSpPr txBox="1"/>
          <p:nvPr/>
        </p:nvSpPr>
        <p:spPr>
          <a:xfrm>
            <a:off x="8686800" y="3291840"/>
            <a:ext cx="292608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 Lire », et c'est parti</a:t>
            </a:r>
            <a:endParaRPr lang="en-US" sz="1600" dirty="0"/>
          </a:p>
        </p:txBody>
      </p:sp>
      <p:sp>
        <p:nvSpPr>
          <p:cNvPr id="12" name="Text 7"/>
          <p:cNvSpPr txBox="1"/>
          <p:nvPr/>
        </p:nvSpPr>
        <p:spPr>
          <a:xfrm>
            <a:off x="8686800" y="3602736"/>
            <a:ext cx="2926080" cy="548640"/>
          </a:xfrm>
          <a:prstGeom prst="rect">
            <a:avLst/>
          </a:prstGeom>
          <a:noFill/>
          <a:ln/>
        </p:spPr>
        <p:txBody>
          <a:bodyPr wrap="square" lIns="0" tIns="0" rIns="0" bIns="0" rtlCol="0" anchor="t"/>
          <a:lstStyle/>
          <a:p>
            <a:pPr indent="0" marL="0">
              <a:buNone/>
            </a:pPr>
            <a:r>
              <a:rPr lang="en-US" sz="1300" dirty="0">
                <a:solidFill>
                  <a:srgbClr val="A4A4B2"/>
                </a:solidFill>
                <a:latin typeface="Arial" pitchFamily="34" charset="0"/>
                <a:ea typeface="Arial" pitchFamily="34" charset="-122"/>
                <a:cs typeface="Arial" pitchFamily="34" charset="-120"/>
              </a:rPr>
              <a:t>La vidéo du NAS s'ouvre dans Infuse. De retour : « Tu l'as regardé ? », et c'est coché.</a:t>
            </a:r>
            <a:endParaRPr lang="en-US" sz="1300" dirty="0"/>
          </a:p>
        </p:txBody>
      </p:sp>
      <p:sp>
        <p:nvSpPr>
          <p:cNvPr id="13" name="Shape 8"/>
          <p:cNvSpPr/>
          <p:nvPr/>
        </p:nvSpPr>
        <p:spPr>
          <a:xfrm>
            <a:off x="7955280" y="4636008"/>
            <a:ext cx="530352" cy="530352"/>
          </a:xfrm>
          <a:prstGeom prst="ellipse">
            <a:avLst/>
          </a:prstGeom>
          <a:solidFill>
            <a:srgbClr val="FF7A3D"/>
          </a:solidFill>
          <a:ln/>
        </p:spPr>
      </p:sp>
      <p:pic>
        <p:nvPicPr>
          <p:cNvPr id="14" name="Image 3" descr="preencoded.png">    </p:cNvPr>
          <p:cNvPicPr>
            <a:picLocks noChangeAspect="1"/>
          </p:cNvPicPr>
          <p:nvPr/>
        </p:nvPicPr>
        <p:blipFill>
          <a:blip r:embed="rId5"/>
          <a:stretch>
            <a:fillRect/>
          </a:stretch>
        </p:blipFill>
        <p:spPr>
          <a:xfrm>
            <a:off x="8093172" y="4773900"/>
            <a:ext cx="254569" cy="254569"/>
          </a:xfrm>
          <a:prstGeom prst="rect">
            <a:avLst/>
          </a:prstGeom>
        </p:spPr>
      </p:pic>
      <p:sp>
        <p:nvSpPr>
          <p:cNvPr id="15" name="Text 9"/>
          <p:cNvSpPr txBox="1"/>
          <p:nvPr/>
        </p:nvSpPr>
        <p:spPr>
          <a:xfrm>
            <a:off x="8686800" y="4617720"/>
            <a:ext cx="2926080" cy="29260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Tes listes arrivent seules</a:t>
            </a:r>
            <a:endParaRPr lang="en-US" sz="1600" dirty="0"/>
          </a:p>
        </p:txBody>
      </p:sp>
      <p:sp>
        <p:nvSpPr>
          <p:cNvPr id="16" name="Text 10"/>
          <p:cNvSpPr txBox="1"/>
          <p:nvPr/>
        </p:nvSpPr>
        <p:spPr>
          <a:xfrm>
            <a:off x="8686800" y="4928616"/>
            <a:ext cx="2926080" cy="548640"/>
          </a:xfrm>
          <a:prstGeom prst="rect">
            <a:avLst/>
          </a:prstGeom>
          <a:noFill/>
          <a:ln/>
        </p:spPr>
        <p:txBody>
          <a:bodyPr wrap="square" lIns="0" tIns="0" rIns="0" bIns="0" rtlCol="0" anchor="t"/>
          <a:lstStyle/>
          <a:p>
            <a:pPr indent="0" marL="0">
              <a:buNone/>
            </a:pPr>
            <a:r>
              <a:rPr lang="en-US" sz="1300" dirty="0">
                <a:solidFill>
                  <a:srgbClr val="A4A4B2"/>
                </a:solidFill>
                <a:latin typeface="Arial" pitchFamily="34" charset="0"/>
                <a:ea typeface="Arial" pitchFamily="34" charset="-122"/>
                <a:cs typeface="Arial" pitchFamily="34" charset="-120"/>
              </a:rPr>
              <a:t>Par un dossier de ton NAS, à chaque ouverture. Et tout se règle à la télécommande : plateformes, chaînes, goûts.</a:t>
            </a:r>
            <a:endParaRPr lang="en-US" sz="1300" dirty="0"/>
          </a:p>
        </p:txBody>
      </p:sp>
      <p:sp>
        <p:nvSpPr>
          <p:cNvPr id="17" name="Text 11"/>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D'UNE APP À L'AUTRE</a:t>
            </a:r>
            <a:endParaRPr lang="en-US" sz="1200" dirty="0"/>
          </a:p>
        </p:txBody>
      </p:sp>
      <p:sp>
        <p:nvSpPr>
          <p:cNvPr id="3" name="Text 1"/>
          <p:cNvSpPr txBox="1"/>
          <p:nvPr/>
        </p:nvSpPr>
        <p:spPr>
          <a:xfrm>
            <a:off x="640080" y="868680"/>
            <a:ext cx="10972800" cy="6400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Séance s'entend avec tout le reste.</a:t>
            </a:r>
            <a:endParaRPr lang="en-US" sz="3400" dirty="0"/>
          </a:p>
        </p:txBody>
      </p:sp>
      <p:sp>
        <p:nvSpPr>
          <p:cNvPr id="4" name="Shape 2"/>
          <p:cNvSpPr/>
          <p:nvPr/>
        </p:nvSpPr>
        <p:spPr>
          <a:xfrm>
            <a:off x="640080" y="1783080"/>
            <a:ext cx="2377440" cy="2057400"/>
          </a:xfrm>
          <a:prstGeom prst="roundRect">
            <a:avLst>
              <a:gd name="adj" fmla="val 7111"/>
            </a:avLst>
          </a:prstGeom>
          <a:solidFill>
            <a:srgbClr val="16161C"/>
          </a:solidFill>
          <a:ln w="9525">
            <a:solidFill>
              <a:srgbClr val="2E2E38"/>
            </a:solidFill>
            <a:prstDash val="solid"/>
          </a:ln>
        </p:spPr>
      </p:sp>
      <p:sp>
        <p:nvSpPr>
          <p:cNvPr id="5" name="Shape 3"/>
          <p:cNvSpPr/>
          <p:nvPr/>
        </p:nvSpPr>
        <p:spPr>
          <a:xfrm>
            <a:off x="868680" y="2011680"/>
            <a:ext cx="566928" cy="566928"/>
          </a:xfrm>
          <a:prstGeom prst="ellipse">
            <a:avLst/>
          </a:prstGeom>
          <a:solidFill>
            <a:srgbClr val="FF7A3D"/>
          </a:solidFill>
          <a:ln/>
        </p:spPr>
      </p:sp>
      <p:pic>
        <p:nvPicPr>
          <p:cNvPr id="6" name="Image 0" descr="preencoded.png">    </p:cNvPr>
          <p:cNvPicPr>
            <a:picLocks noChangeAspect="1"/>
          </p:cNvPicPr>
          <p:nvPr/>
        </p:nvPicPr>
        <p:blipFill>
          <a:blip r:embed="rId2"/>
          <a:stretch>
            <a:fillRect/>
          </a:stretch>
        </p:blipFill>
        <p:spPr>
          <a:xfrm>
            <a:off x="1016081" y="2159081"/>
            <a:ext cx="272125" cy="272125"/>
          </a:xfrm>
          <a:prstGeom prst="rect">
            <a:avLst/>
          </a:prstGeom>
        </p:spPr>
      </p:pic>
      <p:sp>
        <p:nvSpPr>
          <p:cNvPr id="7" name="Text 4"/>
          <p:cNvSpPr txBox="1"/>
          <p:nvPr/>
        </p:nvSpPr>
        <p:spPr>
          <a:xfrm>
            <a:off x="868680" y="2715768"/>
            <a:ext cx="196596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Siri et Raccourcis</a:t>
            </a:r>
            <a:endParaRPr lang="en-US" sz="1500" dirty="0"/>
          </a:p>
        </p:txBody>
      </p:sp>
      <p:sp>
        <p:nvSpPr>
          <p:cNvPr id="8" name="Text 5"/>
          <p:cNvSpPr txBox="1"/>
          <p:nvPr/>
        </p:nvSpPr>
        <p:spPr>
          <a:xfrm>
            <a:off x="868680" y="3026664"/>
            <a:ext cx="1965960" cy="7315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 Ajoute Heat à ma soirée » : Siri s'en charge.</a:t>
            </a:r>
            <a:endParaRPr lang="en-US" sz="1200" dirty="0"/>
          </a:p>
        </p:txBody>
      </p:sp>
      <p:sp>
        <p:nvSpPr>
          <p:cNvPr id="9" name="Shape 6"/>
          <p:cNvSpPr/>
          <p:nvPr/>
        </p:nvSpPr>
        <p:spPr>
          <a:xfrm>
            <a:off x="3246120" y="1783080"/>
            <a:ext cx="2377440" cy="2057400"/>
          </a:xfrm>
          <a:prstGeom prst="roundRect">
            <a:avLst>
              <a:gd name="adj" fmla="val 7111"/>
            </a:avLst>
          </a:prstGeom>
          <a:solidFill>
            <a:srgbClr val="16161C"/>
          </a:solidFill>
          <a:ln w="9525">
            <a:solidFill>
              <a:srgbClr val="2E2E38"/>
            </a:solidFill>
            <a:prstDash val="solid"/>
          </a:ln>
        </p:spPr>
      </p:sp>
      <p:sp>
        <p:nvSpPr>
          <p:cNvPr id="10" name="Shape 7"/>
          <p:cNvSpPr/>
          <p:nvPr/>
        </p:nvSpPr>
        <p:spPr>
          <a:xfrm>
            <a:off x="3474720" y="2011680"/>
            <a:ext cx="566928" cy="566928"/>
          </a:xfrm>
          <a:prstGeom prst="ellipse">
            <a:avLst/>
          </a:prstGeom>
          <a:solidFill>
            <a:srgbClr val="FF7A3D"/>
          </a:solidFill>
          <a:ln/>
        </p:spPr>
      </p:sp>
      <p:pic>
        <p:nvPicPr>
          <p:cNvPr id="11" name="Image 1" descr="preencoded.png">    </p:cNvPr>
          <p:cNvPicPr>
            <a:picLocks noChangeAspect="1"/>
          </p:cNvPicPr>
          <p:nvPr/>
        </p:nvPicPr>
        <p:blipFill>
          <a:blip r:embed="rId3"/>
          <a:stretch>
            <a:fillRect/>
          </a:stretch>
        </p:blipFill>
        <p:spPr>
          <a:xfrm>
            <a:off x="3622121" y="2159081"/>
            <a:ext cx="272125" cy="272125"/>
          </a:xfrm>
          <a:prstGeom prst="rect">
            <a:avLst/>
          </a:prstGeom>
        </p:spPr>
      </p:pic>
      <p:sp>
        <p:nvSpPr>
          <p:cNvPr id="12" name="Text 8"/>
          <p:cNvSpPr txBox="1"/>
          <p:nvPr/>
        </p:nvSpPr>
        <p:spPr>
          <a:xfrm>
            <a:off x="3474720" y="2715768"/>
            <a:ext cx="196596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Widgets</a:t>
            </a:r>
            <a:endParaRPr lang="en-US" sz="1500" dirty="0"/>
          </a:p>
        </p:txBody>
      </p:sp>
      <p:sp>
        <p:nvSpPr>
          <p:cNvPr id="13" name="Text 9"/>
          <p:cNvSpPr txBox="1"/>
          <p:nvPr/>
        </p:nvSpPr>
        <p:spPr>
          <a:xfrm>
            <a:off x="3474720" y="3026664"/>
            <a:ext cx="1965960" cy="7315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Ta soirée et tes rendez-vous sur l'écran d'accueil.</a:t>
            </a:r>
            <a:endParaRPr lang="en-US" sz="1200" dirty="0"/>
          </a:p>
        </p:txBody>
      </p:sp>
      <p:sp>
        <p:nvSpPr>
          <p:cNvPr id="14" name="Shape 10"/>
          <p:cNvSpPr/>
          <p:nvPr/>
        </p:nvSpPr>
        <p:spPr>
          <a:xfrm>
            <a:off x="5852160" y="1783080"/>
            <a:ext cx="2377440" cy="2057400"/>
          </a:xfrm>
          <a:prstGeom prst="roundRect">
            <a:avLst>
              <a:gd name="adj" fmla="val 7111"/>
            </a:avLst>
          </a:prstGeom>
          <a:solidFill>
            <a:srgbClr val="16161C"/>
          </a:solidFill>
          <a:ln w="9525">
            <a:solidFill>
              <a:srgbClr val="2E2E38"/>
            </a:solidFill>
            <a:prstDash val="solid"/>
          </a:ln>
        </p:spPr>
      </p:sp>
      <p:sp>
        <p:nvSpPr>
          <p:cNvPr id="15" name="Shape 11"/>
          <p:cNvSpPr/>
          <p:nvPr/>
        </p:nvSpPr>
        <p:spPr>
          <a:xfrm>
            <a:off x="6080760" y="2011680"/>
            <a:ext cx="566928" cy="566928"/>
          </a:xfrm>
          <a:prstGeom prst="ellipse">
            <a:avLst/>
          </a:prstGeom>
          <a:solidFill>
            <a:srgbClr val="FF7A3D"/>
          </a:solidFill>
          <a:ln/>
        </p:spPr>
      </p:sp>
      <p:pic>
        <p:nvPicPr>
          <p:cNvPr id="16" name="Image 2" descr="preencoded.png">    </p:cNvPr>
          <p:cNvPicPr>
            <a:picLocks noChangeAspect="1"/>
          </p:cNvPicPr>
          <p:nvPr/>
        </p:nvPicPr>
        <p:blipFill>
          <a:blip r:embed="rId4"/>
          <a:stretch>
            <a:fillRect/>
          </a:stretch>
        </p:blipFill>
        <p:spPr>
          <a:xfrm>
            <a:off x="6228161" y="2159081"/>
            <a:ext cx="272125" cy="272125"/>
          </a:xfrm>
          <a:prstGeom prst="rect">
            <a:avLst/>
          </a:prstGeom>
        </p:spPr>
      </p:pic>
      <p:sp>
        <p:nvSpPr>
          <p:cNvPr id="17" name="Text 12"/>
          <p:cNvSpPr txBox="1"/>
          <p:nvPr/>
        </p:nvSpPr>
        <p:spPr>
          <a:xfrm>
            <a:off x="6080760" y="2715768"/>
            <a:ext cx="196596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Notifications</a:t>
            </a:r>
            <a:endParaRPr lang="en-US" sz="1500" dirty="0"/>
          </a:p>
        </p:txBody>
      </p:sp>
      <p:sp>
        <p:nvSpPr>
          <p:cNvPr id="18" name="Text 13"/>
          <p:cNvSpPr txBox="1"/>
          <p:nvPr/>
        </p:nvSpPr>
        <p:spPr>
          <a:xfrm>
            <a:off x="6080760" y="3026664"/>
            <a:ext cx="1965960" cy="7315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Nouvel épisode, passage télé : calculées sur l'appareil.</a:t>
            </a:r>
            <a:endParaRPr lang="en-US" sz="1200" dirty="0"/>
          </a:p>
        </p:txBody>
      </p:sp>
      <p:sp>
        <p:nvSpPr>
          <p:cNvPr id="19" name="Shape 14"/>
          <p:cNvSpPr/>
          <p:nvPr/>
        </p:nvSpPr>
        <p:spPr>
          <a:xfrm>
            <a:off x="640080" y="4069080"/>
            <a:ext cx="2377440" cy="2057400"/>
          </a:xfrm>
          <a:prstGeom prst="roundRect">
            <a:avLst>
              <a:gd name="adj" fmla="val 7111"/>
            </a:avLst>
          </a:prstGeom>
          <a:solidFill>
            <a:srgbClr val="16161C"/>
          </a:solidFill>
          <a:ln w="9525">
            <a:solidFill>
              <a:srgbClr val="2E2E38"/>
            </a:solidFill>
            <a:prstDash val="solid"/>
          </a:ln>
        </p:spPr>
      </p:sp>
      <p:sp>
        <p:nvSpPr>
          <p:cNvPr id="20" name="Shape 15"/>
          <p:cNvSpPr/>
          <p:nvPr/>
        </p:nvSpPr>
        <p:spPr>
          <a:xfrm>
            <a:off x="868680" y="4297680"/>
            <a:ext cx="566928" cy="566928"/>
          </a:xfrm>
          <a:prstGeom prst="ellipse">
            <a:avLst/>
          </a:prstGeom>
          <a:solidFill>
            <a:srgbClr val="FF7A3D"/>
          </a:solidFill>
          <a:ln/>
        </p:spPr>
      </p:sp>
      <p:pic>
        <p:nvPicPr>
          <p:cNvPr id="21" name="Image 3" descr="preencoded.png">    </p:cNvPr>
          <p:cNvPicPr>
            <a:picLocks noChangeAspect="1"/>
          </p:cNvPicPr>
          <p:nvPr/>
        </p:nvPicPr>
        <p:blipFill>
          <a:blip r:embed="rId5"/>
          <a:stretch>
            <a:fillRect/>
          </a:stretch>
        </p:blipFill>
        <p:spPr>
          <a:xfrm>
            <a:off x="1016081" y="4445081"/>
            <a:ext cx="272125" cy="272125"/>
          </a:xfrm>
          <a:prstGeom prst="rect">
            <a:avLst/>
          </a:prstGeom>
        </p:spPr>
      </p:pic>
      <p:sp>
        <p:nvSpPr>
          <p:cNvPr id="22" name="Text 16"/>
          <p:cNvSpPr txBox="1"/>
          <p:nvPr/>
        </p:nvSpPr>
        <p:spPr>
          <a:xfrm>
            <a:off x="868680" y="5001768"/>
            <a:ext cx="196596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Infuse et VLC</a:t>
            </a:r>
            <a:endParaRPr lang="en-US" sz="1500" dirty="0"/>
          </a:p>
        </p:txBody>
      </p:sp>
      <p:sp>
        <p:nvSpPr>
          <p:cNvPr id="23" name="Text 17"/>
          <p:cNvSpPr txBox="1"/>
          <p:nvPr/>
        </p:nvSpPr>
        <p:spPr>
          <a:xfrm>
            <a:off x="868680" y="5312664"/>
            <a:ext cx="1965960" cy="7315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La vidéo du NAS s'ouvre dans ton lecteur.</a:t>
            </a:r>
            <a:endParaRPr lang="en-US" sz="1200" dirty="0"/>
          </a:p>
        </p:txBody>
      </p:sp>
      <p:sp>
        <p:nvSpPr>
          <p:cNvPr id="24" name="Shape 18"/>
          <p:cNvSpPr/>
          <p:nvPr/>
        </p:nvSpPr>
        <p:spPr>
          <a:xfrm>
            <a:off x="3246120" y="4069080"/>
            <a:ext cx="2377440" cy="2057400"/>
          </a:xfrm>
          <a:prstGeom prst="roundRect">
            <a:avLst>
              <a:gd name="adj" fmla="val 7111"/>
            </a:avLst>
          </a:prstGeom>
          <a:solidFill>
            <a:srgbClr val="16161C"/>
          </a:solidFill>
          <a:ln w="9525">
            <a:solidFill>
              <a:srgbClr val="2E2E38"/>
            </a:solidFill>
            <a:prstDash val="solid"/>
          </a:ln>
        </p:spPr>
      </p:sp>
      <p:sp>
        <p:nvSpPr>
          <p:cNvPr id="25" name="Shape 19"/>
          <p:cNvSpPr/>
          <p:nvPr/>
        </p:nvSpPr>
        <p:spPr>
          <a:xfrm>
            <a:off x="3474720" y="4297680"/>
            <a:ext cx="566928" cy="566928"/>
          </a:xfrm>
          <a:prstGeom prst="ellipse">
            <a:avLst/>
          </a:prstGeom>
          <a:solidFill>
            <a:srgbClr val="FF7A3D"/>
          </a:solidFill>
          <a:ln/>
        </p:spPr>
      </p:sp>
      <p:pic>
        <p:nvPicPr>
          <p:cNvPr id="26" name="Image 4" descr="preencoded.png">    </p:cNvPr>
          <p:cNvPicPr>
            <a:picLocks noChangeAspect="1"/>
          </p:cNvPicPr>
          <p:nvPr/>
        </p:nvPicPr>
        <p:blipFill>
          <a:blip r:embed="rId6"/>
          <a:stretch>
            <a:fillRect/>
          </a:stretch>
        </p:blipFill>
        <p:spPr>
          <a:xfrm>
            <a:off x="3622121" y="4445081"/>
            <a:ext cx="272125" cy="272125"/>
          </a:xfrm>
          <a:prstGeom prst="rect">
            <a:avLst/>
          </a:prstGeom>
        </p:spPr>
      </p:pic>
      <p:sp>
        <p:nvSpPr>
          <p:cNvPr id="27" name="Text 20"/>
          <p:cNvSpPr txBox="1"/>
          <p:nvPr/>
        </p:nvSpPr>
        <p:spPr>
          <a:xfrm>
            <a:off x="3474720" y="5001768"/>
            <a:ext cx="196596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AirDrop et Fichiers</a:t>
            </a:r>
            <a:endParaRPr lang="en-US" sz="1500" dirty="0"/>
          </a:p>
        </p:txBody>
      </p:sp>
      <p:sp>
        <p:nvSpPr>
          <p:cNvPr id="28" name="Text 21"/>
          <p:cNvSpPr txBox="1"/>
          <p:nvPr/>
        </p:nvSpPr>
        <p:spPr>
          <a:xfrm>
            <a:off x="3474720" y="5312664"/>
            <a:ext cx="1965960" cy="7315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Ta collection dans un fichier, vers un autre appareil.</a:t>
            </a:r>
            <a:endParaRPr lang="en-US" sz="1200" dirty="0"/>
          </a:p>
        </p:txBody>
      </p:sp>
      <p:sp>
        <p:nvSpPr>
          <p:cNvPr id="29" name="Shape 22"/>
          <p:cNvSpPr/>
          <p:nvPr/>
        </p:nvSpPr>
        <p:spPr>
          <a:xfrm>
            <a:off x="5852160" y="4069080"/>
            <a:ext cx="2377440" cy="2057400"/>
          </a:xfrm>
          <a:prstGeom prst="roundRect">
            <a:avLst>
              <a:gd name="adj" fmla="val 7111"/>
            </a:avLst>
          </a:prstGeom>
          <a:solidFill>
            <a:srgbClr val="16161C"/>
          </a:solidFill>
          <a:ln w="9525">
            <a:solidFill>
              <a:srgbClr val="2E2E38"/>
            </a:solidFill>
            <a:prstDash val="solid"/>
          </a:ln>
        </p:spPr>
      </p:sp>
      <p:sp>
        <p:nvSpPr>
          <p:cNvPr id="30" name="Shape 23"/>
          <p:cNvSpPr/>
          <p:nvPr/>
        </p:nvSpPr>
        <p:spPr>
          <a:xfrm>
            <a:off x="6080760" y="4297680"/>
            <a:ext cx="566928" cy="566928"/>
          </a:xfrm>
          <a:prstGeom prst="ellipse">
            <a:avLst/>
          </a:prstGeom>
          <a:solidFill>
            <a:srgbClr val="FF7A3D"/>
          </a:solidFill>
          <a:ln/>
        </p:spPr>
      </p:sp>
      <p:pic>
        <p:nvPicPr>
          <p:cNvPr id="31" name="Image 5" descr="preencoded.png">    </p:cNvPr>
          <p:cNvPicPr>
            <a:picLocks noChangeAspect="1"/>
          </p:cNvPicPr>
          <p:nvPr/>
        </p:nvPicPr>
        <p:blipFill>
          <a:blip r:embed="rId7"/>
          <a:stretch>
            <a:fillRect/>
          </a:stretch>
        </p:blipFill>
        <p:spPr>
          <a:xfrm>
            <a:off x="6228161" y="4445081"/>
            <a:ext cx="272125" cy="272125"/>
          </a:xfrm>
          <a:prstGeom prst="rect">
            <a:avLst/>
          </a:prstGeom>
        </p:spPr>
      </p:pic>
      <p:sp>
        <p:nvSpPr>
          <p:cNvPr id="32" name="Text 24"/>
          <p:cNvSpPr txBox="1"/>
          <p:nvPr/>
        </p:nvSpPr>
        <p:spPr>
          <a:xfrm>
            <a:off x="6080760" y="5001768"/>
            <a:ext cx="196596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Partage</a:t>
            </a:r>
            <a:endParaRPr lang="en-US" sz="1500" dirty="0"/>
          </a:p>
        </p:txBody>
      </p:sp>
      <p:sp>
        <p:nvSpPr>
          <p:cNvPr id="33" name="Text 25"/>
          <p:cNvSpPr txBox="1"/>
          <p:nvPr/>
        </p:nvSpPr>
        <p:spPr>
          <a:xfrm>
            <a:off x="6080760" y="5312664"/>
            <a:ext cx="1965960" cy="731520"/>
          </a:xfrm>
          <a:prstGeom prst="rect">
            <a:avLst/>
          </a:prstGeom>
          <a:noFill/>
          <a:ln/>
        </p:spPr>
        <p:txBody>
          <a:bodyPr wrap="square" lIns="0" tIns="0" rIns="0" bIns="0" rtlCol="0" anchor="t"/>
          <a:lstStyle/>
          <a:p>
            <a:pPr indent="0" marL="0">
              <a:buNone/>
            </a:pPr>
            <a:r>
              <a:rPr lang="en-US" sz="1200" dirty="0">
                <a:solidFill>
                  <a:srgbClr val="A4A4B2"/>
                </a:solidFill>
                <a:latin typeface="Arial" pitchFamily="34" charset="0"/>
                <a:ea typeface="Arial" pitchFamily="34" charset="-122"/>
                <a:cs typeface="Arial" pitchFamily="34" charset="-120"/>
              </a:rPr>
              <a:t>Ton bilan de l'année, en cartes à envoyer à tes amis.</a:t>
            </a:r>
            <a:endParaRPr lang="en-US" sz="1200" dirty="0"/>
          </a:p>
        </p:txBody>
      </p:sp>
      <p:pic>
        <p:nvPicPr>
          <p:cNvPr id="34" name="Image 6" descr="/Users/patrick/Github/Seance/.build/presentation/tmp/bilan-1.png">    </p:cNvPr>
          <p:cNvPicPr>
            <a:picLocks noChangeAspect="1"/>
          </p:cNvPicPr>
          <p:nvPr/>
        </p:nvPicPr>
        <p:blipFill>
          <a:blip r:embed="rId8"/>
          <a:stretch>
            <a:fillRect/>
          </a:stretch>
        </p:blipFill>
        <p:spPr>
          <a:xfrm>
            <a:off x="8641080" y="1783080"/>
            <a:ext cx="1689032" cy="3017520"/>
          </a:xfrm>
          <a:prstGeom prst="rect">
            <a:avLst/>
          </a:prstGeom>
        </p:spPr>
      </p:pic>
      <p:pic>
        <p:nvPicPr>
          <p:cNvPr id="35" name="Image 7" descr="/Users/patrick/Github/Seance/.build/presentation/tmp/bilan-5.png">    </p:cNvPr>
          <p:cNvPicPr>
            <a:picLocks noChangeAspect="1"/>
          </p:cNvPicPr>
          <p:nvPr/>
        </p:nvPicPr>
        <p:blipFill>
          <a:blip r:embed="rId9"/>
          <a:stretch>
            <a:fillRect/>
          </a:stretch>
        </p:blipFill>
        <p:spPr>
          <a:xfrm>
            <a:off x="10012680" y="2651760"/>
            <a:ext cx="1689032" cy="3017520"/>
          </a:xfrm>
          <a:prstGeom prst="rect">
            <a:avLst/>
          </a:prstGeom>
        </p:spPr>
      </p:pic>
      <p:sp>
        <p:nvSpPr>
          <p:cNvPr id="36" name="Text 26"/>
          <p:cNvSpPr txBox="1"/>
          <p:nvPr/>
        </p:nvSpPr>
        <p:spPr>
          <a:xfrm>
            <a:off x="8641080" y="5806440"/>
            <a:ext cx="3017520" cy="274320"/>
          </a:xfrm>
          <a:prstGeom prst="rect">
            <a:avLst/>
          </a:prstGeom>
          <a:noFill/>
          <a:ln/>
        </p:spPr>
        <p:txBody>
          <a:bodyPr wrap="square" lIns="0" tIns="0" rIns="0" bIns="0" rtlCol="0" anchor="t"/>
          <a:lstStyle/>
          <a:p>
            <a:pPr indent="0" marL="0">
              <a:buNone/>
            </a:pPr>
            <a:r>
              <a:rPr lang="en-US" sz="1100" i="1" dirty="0">
                <a:solidFill>
                  <a:srgbClr val="A4A4B2"/>
                </a:solidFill>
                <a:latin typeface="Arial" pitchFamily="34" charset="0"/>
                <a:ea typeface="Arial" pitchFamily="34" charset="-122"/>
                <a:cs typeface="Arial" pitchFamily="34" charset="-120"/>
              </a:rPr>
              <a:t>Ton bilan, en cartes à partager</a:t>
            </a:r>
            <a:endParaRPr lang="en-US" sz="1100" dirty="0"/>
          </a:p>
        </p:txBody>
      </p:sp>
      <p:sp>
        <p:nvSpPr>
          <p:cNvPr id="37" name="Text 27"/>
          <p:cNvSpPr txBox="1"/>
          <p:nvPr/>
        </p:nvSpPr>
        <p:spPr>
          <a:xfrm>
            <a:off x="10180015" y="6473952"/>
            <a:ext cx="1463040" cy="228600"/>
          </a:xfrm>
          <a:prstGeom prst="rect">
            <a:avLst/>
          </a:prstGeom>
          <a:noFill/>
          <a:ln/>
        </p:spPr>
        <p:txBody>
          <a:bodyPr wrap="square" lIns="0" tIns="0" rIns="0" bIns="0" rtlCol="0" anchor="t"/>
          <a:lstStyle/>
          <a:p>
            <a:pPr algn="r" indent="0" marL="0">
              <a:buNone/>
            </a:pPr>
            <a:r>
              <a:rPr lang="en-US" sz="1000" dirty="0">
                <a:solidFill>
                  <a:srgbClr val="6E6E7C"/>
                </a:solidFill>
                <a:latin typeface="Arial" pitchFamily="34" charset="0"/>
                <a:ea typeface="Arial" pitchFamily="34" charset="-122"/>
                <a:cs typeface="Arial" pitchFamily="34" charset="-120"/>
              </a:rPr>
              <a:t>Séance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patrick/Github/Seance/.build/presentation/tmp/tel-bienvenue.png">    </p:cNvPr>
          <p:cNvPicPr>
            <a:picLocks noChangeAspect="1"/>
          </p:cNvPicPr>
          <p:nvPr/>
        </p:nvPicPr>
        <p:blipFill>
          <a:blip r:embed="rId2"/>
          <a:stretch>
            <a:fillRect/>
          </a:stretch>
        </p:blipFill>
        <p:spPr>
          <a:xfrm>
            <a:off x="822960" y="685800"/>
            <a:ext cx="2591278" cy="5486400"/>
          </a:xfrm>
          <a:prstGeom prst="rect">
            <a:avLst/>
          </a:prstGeom>
        </p:spPr>
      </p:pic>
      <p:sp>
        <p:nvSpPr>
          <p:cNvPr id="3" name="Text 0"/>
          <p:cNvSpPr txBox="1"/>
          <p:nvPr/>
        </p:nvSpPr>
        <p:spPr>
          <a:xfrm>
            <a:off x="4297680" y="868680"/>
            <a:ext cx="5486400" cy="274320"/>
          </a:xfrm>
          <a:prstGeom prst="rect">
            <a:avLst/>
          </a:prstGeom>
          <a:noFill/>
          <a:ln/>
        </p:spPr>
        <p:txBody>
          <a:bodyPr wrap="square" lIns="0" tIns="0" rIns="0" bIns="0" rtlCol="0" anchor="t"/>
          <a:lstStyle/>
          <a:p>
            <a:pPr indent="0" marL="0">
              <a:buNone/>
            </a:pPr>
            <a:r>
              <a:rPr lang="en-US" sz="1200" b="1" spc="300" kern="0" dirty="0">
                <a:solidFill>
                  <a:srgbClr val="FFA24A"/>
                </a:solidFill>
                <a:latin typeface="Arial" pitchFamily="34" charset="0"/>
                <a:ea typeface="Arial" pitchFamily="34" charset="-122"/>
                <a:cs typeface="Arial" pitchFamily="34" charset="-120"/>
              </a:rPr>
              <a:t>POUR FINIR</a:t>
            </a:r>
            <a:endParaRPr lang="en-US" sz="1200" dirty="0"/>
          </a:p>
        </p:txBody>
      </p:sp>
      <p:sp>
        <p:nvSpPr>
          <p:cNvPr id="4" name="Text 1"/>
          <p:cNvSpPr txBox="1"/>
          <p:nvPr/>
        </p:nvSpPr>
        <p:spPr>
          <a:xfrm>
            <a:off x="4297680" y="1188720"/>
            <a:ext cx="7315200" cy="118872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Prêt pour ta prochaine séance ?</a:t>
            </a:r>
            <a:endParaRPr lang="en-US" sz="3800" dirty="0"/>
          </a:p>
        </p:txBody>
      </p:sp>
      <p:sp>
        <p:nvSpPr>
          <p:cNvPr id="5" name="Shape 2"/>
          <p:cNvSpPr/>
          <p:nvPr/>
        </p:nvSpPr>
        <p:spPr>
          <a:xfrm>
            <a:off x="4297680" y="2606040"/>
            <a:ext cx="2240280" cy="1417320"/>
          </a:xfrm>
          <a:prstGeom prst="roundRect">
            <a:avLst>
              <a:gd name="adj" fmla="val 10323"/>
            </a:avLst>
          </a:prstGeom>
          <a:solidFill>
            <a:srgbClr val="16161C"/>
          </a:solidFill>
          <a:ln w="9525">
            <a:solidFill>
              <a:srgbClr val="2E2E38"/>
            </a:solidFill>
            <a:prstDash val="solid"/>
          </a:ln>
        </p:spPr>
      </p:sp>
      <p:sp>
        <p:nvSpPr>
          <p:cNvPr id="6" name="Text 3"/>
          <p:cNvSpPr txBox="1"/>
          <p:nvPr/>
        </p:nvSpPr>
        <p:spPr>
          <a:xfrm>
            <a:off x="4297680" y="2651760"/>
            <a:ext cx="2240280" cy="868680"/>
          </a:xfrm>
          <a:prstGeom prst="rect">
            <a:avLst/>
          </a:prstGeom>
          <a:noFill/>
          <a:ln/>
        </p:spPr>
        <p:txBody>
          <a:bodyPr wrap="square" lIns="0" tIns="0" rIns="0" bIns="0" rtlCol="0" anchor="ctr"/>
          <a:lstStyle/>
          <a:p>
            <a:pPr algn="ctr" indent="0" marL="0">
              <a:buNone/>
            </a:pPr>
            <a:r>
              <a:rPr lang="en-US" sz="5400" b="1" dirty="0">
                <a:solidFill>
                  <a:srgbClr val="FF7A3D"/>
                </a:solidFill>
                <a:latin typeface="Arial" pitchFamily="34" charset="0"/>
                <a:ea typeface="Arial" pitchFamily="34" charset="-122"/>
                <a:cs typeface="Arial" pitchFamily="34" charset="-120"/>
              </a:rPr>
              <a:t>0</a:t>
            </a:r>
            <a:endParaRPr lang="en-US" sz="5400" dirty="0"/>
          </a:p>
        </p:txBody>
      </p:sp>
      <p:sp>
        <p:nvSpPr>
          <p:cNvPr id="7" name="Text 4"/>
          <p:cNvSpPr txBox="1"/>
          <p:nvPr/>
        </p:nvSpPr>
        <p:spPr>
          <a:xfrm>
            <a:off x="4297680" y="3547872"/>
            <a:ext cx="2240280" cy="274320"/>
          </a:xfrm>
          <a:prstGeom prst="rect">
            <a:avLst/>
          </a:prstGeom>
          <a:noFill/>
          <a:ln/>
        </p:spPr>
        <p:txBody>
          <a:bodyPr wrap="square" lIns="0" tIns="0" rIns="0" bIns="0" rtlCol="0" anchor="t"/>
          <a:lstStyle/>
          <a:p>
            <a:pPr algn="ctr" indent="0" marL="0">
              <a:buNone/>
            </a:pPr>
            <a:r>
              <a:rPr lang="en-US" sz="1300" dirty="0">
                <a:solidFill>
                  <a:srgbClr val="A4A4B2"/>
                </a:solidFill>
                <a:latin typeface="Arial" pitchFamily="34" charset="0"/>
                <a:ea typeface="Arial" pitchFamily="34" charset="-122"/>
                <a:cs typeface="Arial" pitchFamily="34" charset="-120"/>
              </a:rPr>
              <a:t>compte à créer</a:t>
            </a:r>
            <a:endParaRPr lang="en-US" sz="1300" dirty="0"/>
          </a:p>
        </p:txBody>
      </p:sp>
      <p:sp>
        <p:nvSpPr>
          <p:cNvPr id="8" name="Shape 5"/>
          <p:cNvSpPr/>
          <p:nvPr/>
        </p:nvSpPr>
        <p:spPr>
          <a:xfrm>
            <a:off x="6766560" y="2606040"/>
            <a:ext cx="2240280" cy="1417320"/>
          </a:xfrm>
          <a:prstGeom prst="roundRect">
            <a:avLst>
              <a:gd name="adj" fmla="val 10323"/>
            </a:avLst>
          </a:prstGeom>
          <a:solidFill>
            <a:srgbClr val="16161C"/>
          </a:solidFill>
          <a:ln w="9525">
            <a:solidFill>
              <a:srgbClr val="2E2E38"/>
            </a:solidFill>
            <a:prstDash val="solid"/>
          </a:ln>
        </p:spPr>
      </p:sp>
      <p:sp>
        <p:nvSpPr>
          <p:cNvPr id="9" name="Text 6"/>
          <p:cNvSpPr txBox="1"/>
          <p:nvPr/>
        </p:nvSpPr>
        <p:spPr>
          <a:xfrm>
            <a:off x="6766560" y="2651760"/>
            <a:ext cx="2240280" cy="868680"/>
          </a:xfrm>
          <a:prstGeom prst="rect">
            <a:avLst/>
          </a:prstGeom>
          <a:noFill/>
          <a:ln/>
        </p:spPr>
        <p:txBody>
          <a:bodyPr wrap="square" lIns="0" tIns="0" rIns="0" bIns="0" rtlCol="0" anchor="ctr"/>
          <a:lstStyle/>
          <a:p>
            <a:pPr algn="ctr" indent="0" marL="0">
              <a:buNone/>
            </a:pPr>
            <a:r>
              <a:rPr lang="en-US" sz="5400" b="1" dirty="0">
                <a:solidFill>
                  <a:srgbClr val="FF7A3D"/>
                </a:solidFill>
                <a:latin typeface="Arial" pitchFamily="34" charset="0"/>
                <a:ea typeface="Arial" pitchFamily="34" charset="-122"/>
                <a:cs typeface="Arial" pitchFamily="34" charset="-120"/>
              </a:rPr>
              <a:t>0</a:t>
            </a:r>
            <a:endParaRPr lang="en-US" sz="5400" dirty="0"/>
          </a:p>
        </p:txBody>
      </p:sp>
      <p:sp>
        <p:nvSpPr>
          <p:cNvPr id="10" name="Text 7"/>
          <p:cNvSpPr txBox="1"/>
          <p:nvPr/>
        </p:nvSpPr>
        <p:spPr>
          <a:xfrm>
            <a:off x="6766560" y="3547872"/>
            <a:ext cx="2240280" cy="274320"/>
          </a:xfrm>
          <a:prstGeom prst="rect">
            <a:avLst/>
          </a:prstGeom>
          <a:noFill/>
          <a:ln/>
        </p:spPr>
        <p:txBody>
          <a:bodyPr wrap="square" lIns="0" tIns="0" rIns="0" bIns="0" rtlCol="0" anchor="t"/>
          <a:lstStyle/>
          <a:p>
            <a:pPr algn="ctr" indent="0" marL="0">
              <a:buNone/>
            </a:pPr>
            <a:r>
              <a:rPr lang="en-US" sz="1300" dirty="0">
                <a:solidFill>
                  <a:srgbClr val="A4A4B2"/>
                </a:solidFill>
                <a:latin typeface="Arial" pitchFamily="34" charset="0"/>
                <a:ea typeface="Arial" pitchFamily="34" charset="-122"/>
                <a:cs typeface="Arial" pitchFamily="34" charset="-120"/>
              </a:rPr>
              <a:t>publicité</a:t>
            </a:r>
            <a:endParaRPr lang="en-US" sz="1300" dirty="0"/>
          </a:p>
        </p:txBody>
      </p:sp>
      <p:sp>
        <p:nvSpPr>
          <p:cNvPr id="11" name="Shape 8"/>
          <p:cNvSpPr/>
          <p:nvPr/>
        </p:nvSpPr>
        <p:spPr>
          <a:xfrm>
            <a:off x="9235440" y="2606040"/>
            <a:ext cx="2240280" cy="1417320"/>
          </a:xfrm>
          <a:prstGeom prst="roundRect">
            <a:avLst>
              <a:gd name="adj" fmla="val 10323"/>
            </a:avLst>
          </a:prstGeom>
          <a:solidFill>
            <a:srgbClr val="16161C"/>
          </a:solidFill>
          <a:ln w="9525">
            <a:solidFill>
              <a:srgbClr val="2E2E38"/>
            </a:solidFill>
            <a:prstDash val="solid"/>
          </a:ln>
        </p:spPr>
      </p:sp>
      <p:sp>
        <p:nvSpPr>
          <p:cNvPr id="12" name="Text 9"/>
          <p:cNvSpPr txBox="1"/>
          <p:nvPr/>
        </p:nvSpPr>
        <p:spPr>
          <a:xfrm>
            <a:off x="9235440" y="2651760"/>
            <a:ext cx="2240280" cy="868680"/>
          </a:xfrm>
          <a:prstGeom prst="rect">
            <a:avLst/>
          </a:prstGeom>
          <a:noFill/>
          <a:ln/>
        </p:spPr>
        <p:txBody>
          <a:bodyPr wrap="square" lIns="0" tIns="0" rIns="0" bIns="0" rtlCol="0" anchor="ctr"/>
          <a:lstStyle/>
          <a:p>
            <a:pPr algn="ctr" indent="0" marL="0">
              <a:buNone/>
            </a:pPr>
            <a:r>
              <a:rPr lang="en-US" sz="5400" b="1" dirty="0">
                <a:solidFill>
                  <a:srgbClr val="FF7A3D"/>
                </a:solidFill>
                <a:latin typeface="Arial" pitchFamily="34" charset="0"/>
                <a:ea typeface="Arial" pitchFamily="34" charset="-122"/>
                <a:cs typeface="Arial" pitchFamily="34" charset="-120"/>
              </a:rPr>
              <a:t>0</a:t>
            </a:r>
            <a:endParaRPr lang="en-US" sz="5400" dirty="0"/>
          </a:p>
        </p:txBody>
      </p:sp>
      <p:sp>
        <p:nvSpPr>
          <p:cNvPr id="13" name="Text 10"/>
          <p:cNvSpPr txBox="1"/>
          <p:nvPr/>
        </p:nvSpPr>
        <p:spPr>
          <a:xfrm>
            <a:off x="9235440" y="3547872"/>
            <a:ext cx="2240280" cy="274320"/>
          </a:xfrm>
          <a:prstGeom prst="rect">
            <a:avLst/>
          </a:prstGeom>
          <a:noFill/>
          <a:ln/>
        </p:spPr>
        <p:txBody>
          <a:bodyPr wrap="square" lIns="0" tIns="0" rIns="0" bIns="0" rtlCol="0" anchor="t"/>
          <a:lstStyle/>
          <a:p>
            <a:pPr algn="ctr" indent="0" marL="0">
              <a:buNone/>
            </a:pPr>
            <a:r>
              <a:rPr lang="en-US" sz="1300" dirty="0">
                <a:solidFill>
                  <a:srgbClr val="A4A4B2"/>
                </a:solidFill>
                <a:latin typeface="Arial" pitchFamily="34" charset="0"/>
                <a:ea typeface="Arial" pitchFamily="34" charset="-122"/>
                <a:cs typeface="Arial" pitchFamily="34" charset="-120"/>
              </a:rPr>
              <a:t>suivi</a:t>
            </a:r>
            <a:endParaRPr lang="en-US" sz="1300" dirty="0"/>
          </a:p>
        </p:txBody>
      </p:sp>
      <p:sp>
        <p:nvSpPr>
          <p:cNvPr id="14" name="Text 11"/>
          <p:cNvSpPr txBox="1"/>
          <p:nvPr/>
        </p:nvSpPr>
        <p:spPr>
          <a:xfrm>
            <a:off x="4297680" y="4343400"/>
            <a:ext cx="7315200" cy="292608"/>
          </a:xfrm>
          <a:prstGeom prst="rect">
            <a:avLst/>
          </a:prstGeom>
          <a:noFill/>
          <a:ln/>
        </p:spPr>
        <p:txBody>
          <a:bodyPr wrap="square" lIns="0" tIns="0" rIns="0" bIns="0" rtlCol="0" anchor="t"/>
          <a:lstStyle/>
          <a:p>
            <a:pPr indent="0" marL="0">
              <a:buNone/>
            </a:pPr>
            <a:r>
              <a:rPr lang="en-US" sz="1600" b="1" dirty="0">
                <a:solidFill>
                  <a:srgbClr val="FFA24A"/>
                </a:solidFill>
                <a:latin typeface="Arial" pitchFamily="34" charset="0"/>
                <a:ea typeface="Arial" pitchFamily="34" charset="-122"/>
                <a:cs typeface="Arial" pitchFamily="34" charset="-120"/>
              </a:rPr>
              <a:t>Une minute, et c'est parti</a:t>
            </a:r>
            <a:endParaRPr lang="en-US" sz="1600" dirty="0"/>
          </a:p>
        </p:txBody>
      </p:sp>
      <p:sp>
        <p:nvSpPr>
          <p:cNvPr id="15" name="Shape 12"/>
          <p:cNvSpPr/>
          <p:nvPr/>
        </p:nvSpPr>
        <p:spPr>
          <a:xfrm>
            <a:off x="4297680" y="4773168"/>
            <a:ext cx="329184" cy="329184"/>
          </a:xfrm>
          <a:prstGeom prst="ellipse">
            <a:avLst/>
          </a:prstGeom>
          <a:solidFill>
            <a:srgbClr val="FF7A3D"/>
          </a:solidFill>
          <a:ln/>
        </p:spPr>
      </p:sp>
      <p:sp>
        <p:nvSpPr>
          <p:cNvPr id="16" name="Text 13"/>
          <p:cNvSpPr txBox="1"/>
          <p:nvPr/>
        </p:nvSpPr>
        <p:spPr>
          <a:xfrm>
            <a:off x="4297680" y="4773168"/>
            <a:ext cx="329184" cy="329184"/>
          </a:xfrm>
          <a:prstGeom prst="rect">
            <a:avLst/>
          </a:prstGeom>
          <a:noFill/>
          <a:ln/>
        </p:spPr>
        <p:txBody>
          <a:bodyPr wrap="square" lIns="0" tIns="0" rIns="0" bIns="0" rtlCol="0" anchor="ctr"/>
          <a:lstStyle/>
          <a:p>
            <a:pPr algn="ctr" indent="0" marL="0">
              <a:buNone/>
            </a:pPr>
            <a:r>
              <a:rPr lang="en-US" sz="1200" b="1" dirty="0">
                <a:solidFill>
                  <a:srgbClr val="1A0D05"/>
                </a:solidFill>
                <a:latin typeface="Arial" pitchFamily="34" charset="0"/>
                <a:ea typeface="Arial" pitchFamily="34" charset="-122"/>
                <a:cs typeface="Arial" pitchFamily="34" charset="-120"/>
              </a:rPr>
              <a:t>1</a:t>
            </a:r>
            <a:endParaRPr lang="en-US" sz="1200" dirty="0"/>
          </a:p>
        </p:txBody>
      </p:sp>
      <p:sp>
        <p:nvSpPr>
          <p:cNvPr id="17" name="Text 14"/>
          <p:cNvSpPr txBox="1"/>
          <p:nvPr/>
        </p:nvSpPr>
        <p:spPr>
          <a:xfrm>
            <a:off x="4800600" y="4800600"/>
            <a:ext cx="6766560" cy="292608"/>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Coche tes plateformes et tes chaînes.</a:t>
            </a:r>
            <a:endParaRPr lang="en-US" sz="1400" dirty="0"/>
          </a:p>
        </p:txBody>
      </p:sp>
      <p:sp>
        <p:nvSpPr>
          <p:cNvPr id="18" name="Shape 15"/>
          <p:cNvSpPr/>
          <p:nvPr/>
        </p:nvSpPr>
        <p:spPr>
          <a:xfrm>
            <a:off x="4297680" y="5230368"/>
            <a:ext cx="329184" cy="329184"/>
          </a:xfrm>
          <a:prstGeom prst="ellipse">
            <a:avLst/>
          </a:prstGeom>
          <a:solidFill>
            <a:srgbClr val="FF7A3D"/>
          </a:solidFill>
          <a:ln/>
        </p:spPr>
      </p:sp>
      <p:sp>
        <p:nvSpPr>
          <p:cNvPr id="19" name="Text 16"/>
          <p:cNvSpPr txBox="1"/>
          <p:nvPr/>
        </p:nvSpPr>
        <p:spPr>
          <a:xfrm>
            <a:off x="4297680" y="5230368"/>
            <a:ext cx="329184" cy="329184"/>
          </a:xfrm>
          <a:prstGeom prst="rect">
            <a:avLst/>
          </a:prstGeom>
          <a:noFill/>
          <a:ln/>
        </p:spPr>
        <p:txBody>
          <a:bodyPr wrap="square" lIns="0" tIns="0" rIns="0" bIns="0" rtlCol="0" anchor="ctr"/>
          <a:lstStyle/>
          <a:p>
            <a:pPr algn="ctr" indent="0" marL="0">
              <a:buNone/>
            </a:pPr>
            <a:r>
              <a:rPr lang="en-US" sz="1200" b="1" dirty="0">
                <a:solidFill>
                  <a:srgbClr val="1A0D05"/>
                </a:solidFill>
                <a:latin typeface="Arial" pitchFamily="34" charset="0"/>
                <a:ea typeface="Arial" pitchFamily="34" charset="-122"/>
                <a:cs typeface="Arial" pitchFamily="34" charset="-120"/>
              </a:rPr>
              <a:t>2</a:t>
            </a:r>
            <a:endParaRPr lang="en-US" sz="1200" dirty="0"/>
          </a:p>
        </p:txBody>
      </p:sp>
      <p:sp>
        <p:nvSpPr>
          <p:cNvPr id="20" name="Text 17"/>
          <p:cNvSpPr txBox="1"/>
          <p:nvPr/>
        </p:nvSpPr>
        <p:spPr>
          <a:xfrm>
            <a:off x="4800600" y="5257800"/>
            <a:ext cx="6766560" cy="292608"/>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Dis-lui ce que tu aimes : quelques genres, quelques notes.</a:t>
            </a:r>
            <a:endParaRPr lang="en-US" sz="1400" dirty="0"/>
          </a:p>
        </p:txBody>
      </p:sp>
      <p:sp>
        <p:nvSpPr>
          <p:cNvPr id="21" name="Shape 18"/>
          <p:cNvSpPr/>
          <p:nvPr/>
        </p:nvSpPr>
        <p:spPr>
          <a:xfrm>
            <a:off x="4297680" y="5687568"/>
            <a:ext cx="329184" cy="329184"/>
          </a:xfrm>
          <a:prstGeom prst="ellipse">
            <a:avLst/>
          </a:prstGeom>
          <a:solidFill>
            <a:srgbClr val="FF7A3D"/>
          </a:solidFill>
          <a:ln/>
        </p:spPr>
      </p:sp>
      <p:sp>
        <p:nvSpPr>
          <p:cNvPr id="22" name="Text 19"/>
          <p:cNvSpPr txBox="1"/>
          <p:nvPr/>
        </p:nvSpPr>
        <p:spPr>
          <a:xfrm>
            <a:off x="4297680" y="5687568"/>
            <a:ext cx="329184" cy="329184"/>
          </a:xfrm>
          <a:prstGeom prst="rect">
            <a:avLst/>
          </a:prstGeom>
          <a:noFill/>
          <a:ln/>
        </p:spPr>
        <p:txBody>
          <a:bodyPr wrap="square" lIns="0" tIns="0" rIns="0" bIns="0" rtlCol="0" anchor="ctr"/>
          <a:lstStyle/>
          <a:p>
            <a:pPr algn="ctr" indent="0" marL="0">
              <a:buNone/>
            </a:pPr>
            <a:r>
              <a:rPr lang="en-US" sz="1200" b="1" dirty="0">
                <a:solidFill>
                  <a:srgbClr val="1A0D05"/>
                </a:solidFill>
                <a:latin typeface="Arial" pitchFamily="34" charset="0"/>
                <a:ea typeface="Arial" pitchFamily="34" charset="-122"/>
                <a:cs typeface="Arial" pitchFamily="34" charset="-120"/>
              </a:rPr>
              <a:t>3</a:t>
            </a:r>
            <a:endParaRPr lang="en-US" sz="1200" dirty="0"/>
          </a:p>
        </p:txBody>
      </p:sp>
      <p:sp>
        <p:nvSpPr>
          <p:cNvPr id="23" name="Text 20"/>
          <p:cNvSpPr txBox="1"/>
          <p:nvPr/>
        </p:nvSpPr>
        <p:spPr>
          <a:xfrm>
            <a:off x="4800600" y="5715000"/>
            <a:ext cx="6766560" cy="292608"/>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C'est prêt : ta première soirée t'attend.</a:t>
            </a:r>
            <a:endParaRPr lang="en-US" sz="1400" dirty="0"/>
          </a:p>
        </p:txBody>
      </p:sp>
      <p:sp>
        <p:nvSpPr>
          <p:cNvPr id="24" name="Text 21"/>
          <p:cNvSpPr txBox="1"/>
          <p:nvPr/>
        </p:nvSpPr>
        <p:spPr>
          <a:xfrm>
            <a:off x="4297680" y="6236208"/>
            <a:ext cx="7315200" cy="365760"/>
          </a:xfrm>
          <a:prstGeom prst="rect">
            <a:avLst/>
          </a:prstGeom>
          <a:noFill/>
          <a:ln/>
        </p:spPr>
        <p:txBody>
          <a:bodyPr wrap="square" lIns="0" tIns="0" rIns="0" bIns="0" rtlCol="0" anchor="t"/>
          <a:lstStyle/>
          <a:p>
            <a:pPr indent="0" marL="0">
              <a:buNone/>
            </a:pPr>
            <a:r>
              <a:rPr lang="en-US" sz="900" dirty="0">
                <a:solidFill>
                  <a:srgbClr val="6E6E7C"/>
                </a:solidFill>
                <a:latin typeface="Arial" pitchFamily="34" charset="0"/>
                <a:ea typeface="Arial" pitchFamily="34" charset="-122"/>
                <a:cs typeface="Arial" pitchFamily="34" charset="-120"/>
              </a:rPr>
              <a:t>Version 4.6. En préparation : les documentaires et tes favoris. Écrans présentés avec un profil de démonstration. Ce produit utilise l'API TMDB mais n'est ni approuvé ni certifié par TMDB. Disponibilités : JustWatch. Programmes TV : XML TV Fr.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 présentation</dc:title>
  <dc:subject>PptxGenJS Presentation</dc:subject>
  <dc:creator>Patrick</dc:creator>
  <cp:lastModifiedBy>Patrick</cp:lastModifiedBy>
  <cp:revision>1</cp:revision>
  <dcterms:created xsi:type="dcterms:W3CDTF">2026-09-20T17:47:42Z</dcterms:created>
  <dcterms:modified xsi:type="dcterms:W3CDTF">2026-09-20T17:47:42Z</dcterms:modified>
</cp:coreProperties>
</file>