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Séance en une phrase : l'app qui répond à « on regarde quoi, et où ? ». Même app sur iPhone, iPad, Mac et, depuis la version 4, Apple TV.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iPhone, iPad et Mac se synchronisent par un dossier d'iCloud Drive, un fichier par appareil. L'Apple TV lit déjà le NAS ; la synchronisation de ses listes par le NAS est en cours.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atrick/Github/Seance/.build/plaquette/img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02920"/>
            <a:ext cx="3108960" cy="93268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187452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soir, tu sais quoi regarder. Et où.</a:t>
            </a:r>
            <a:endParaRPr lang="en-US" sz="42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40690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A4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 plateformes, le programme télé et les films de ton NAS, enfin réunis — sur tous tes écrans Apple.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640080" y="534924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1F1F27"/>
          </a:solidFill>
          <a:ln w="9525">
            <a:solidFill>
              <a:srgbClr val="2E2E3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534924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iPhone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901952" y="534924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1F1F27"/>
          </a:solidFill>
          <a:ln w="9525">
            <a:solidFill>
              <a:srgbClr val="2E2E3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901952" y="534924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iPad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163824" y="534924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1F1F27"/>
          </a:solidFill>
          <a:ln w="9525">
            <a:solidFill>
              <a:srgbClr val="2E2E3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163824" y="534924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425696" y="534924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FF7A3D"/>
          </a:solidFill>
          <a:ln w="9525">
            <a:solidFill>
              <a:srgbClr val="FF7A3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425696" y="534924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0D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TV</a:t>
            </a:r>
            <a:endParaRPr lang="en-US" sz="1200" dirty="0"/>
          </a:p>
        </p:txBody>
      </p:sp>
      <p:pic>
        <p:nvPicPr>
          <p:cNvPr id="13" name="Image 1" descr="/private/tmp/claude-501/-Users-patrick--treehouse-Seance-b3e402-2-Seance/af66b438-54fa-4393-a103-e4c352be7338/scratchpad/deck/tmp/ip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143000"/>
            <a:ext cx="5577840" cy="3952450"/>
          </a:xfrm>
          <a:prstGeom prst="rect">
            <a:avLst/>
          </a:prstGeom>
        </p:spPr>
      </p:pic>
      <p:pic>
        <p:nvPicPr>
          <p:cNvPr id="14" name="Image 2" descr="/private/tmp/claude-501/-Users-patrick--treehouse-Seance-b3e402-2-Seance/af66b438-54fa-4393-a103-e4c352be7338/scratchpad/deck/tmp/tel-cesoi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0" y="2148840"/>
            <a:ext cx="1965052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patrick--treehouse-Seance-b3e402-2-Seance/af66b438-54fa-4393-a103-e4c352be7338/scratchpad/deck/tmp/tel-accueil-ba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685800"/>
            <a:ext cx="2591278" cy="5486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20624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OÙ REGARDER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206240" y="1188720"/>
            <a:ext cx="7315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Fini, les vingt minutes à chercher sur quelle app c'est.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4206240" y="2423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4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chaque film et chaque série, un petit badge sur l'affiche dit où le voir, chez toi, en Suisse.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206240" y="3246120"/>
            <a:ext cx="3520440" cy="1280160"/>
          </a:xfrm>
          <a:prstGeom prst="roundRect">
            <a:avLst>
              <a:gd name="adj" fmla="val 11429"/>
            </a:avLst>
          </a:prstGeom>
          <a:solidFill>
            <a:srgbClr val="16161C"/>
          </a:solidFill>
          <a:ln w="9525">
            <a:solidFill>
              <a:srgbClr val="2E2E3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434840" y="3474720"/>
            <a:ext cx="566928" cy="566928"/>
          </a:xfrm>
          <a:prstGeom prst="ellipse">
            <a:avLst/>
          </a:prstGeom>
          <a:solidFill>
            <a:srgbClr val="FF7A3D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2241" y="3622121"/>
            <a:ext cx="272125" cy="27212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212080" y="344728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 plateformes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5212080" y="377647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4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 abonnements de streaming, et seulement les tiens.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955280" y="3246120"/>
            <a:ext cx="3520440" cy="1280160"/>
          </a:xfrm>
          <a:prstGeom prst="roundRect">
            <a:avLst>
              <a:gd name="adj" fmla="val 11429"/>
            </a:avLst>
          </a:prstGeom>
          <a:solidFill>
            <a:srgbClr val="16161C"/>
          </a:solidFill>
          <a:ln w="9525">
            <a:solidFill>
              <a:srgbClr val="2E2E38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8183880" y="3474720"/>
            <a:ext cx="566928" cy="566928"/>
          </a:xfrm>
          <a:prstGeom prst="ellipse">
            <a:avLst/>
          </a:prstGeom>
          <a:solidFill>
            <a:srgbClr val="FF7A3D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1281" y="3622121"/>
            <a:ext cx="272125" cy="27212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961120" y="344728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télé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8961120" y="377647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4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RTS et chaînes françaises, avec l'heure de passage.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206240" y="4754880"/>
            <a:ext cx="3520440" cy="1280160"/>
          </a:xfrm>
          <a:prstGeom prst="roundRect">
            <a:avLst>
              <a:gd name="adj" fmla="val 11429"/>
            </a:avLst>
          </a:prstGeom>
          <a:solidFill>
            <a:srgbClr val="16161C"/>
          </a:solidFill>
          <a:ln w="9525">
            <a:solidFill>
              <a:srgbClr val="2E2E38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4434840" y="4983480"/>
            <a:ext cx="566928" cy="566928"/>
          </a:xfrm>
          <a:prstGeom prst="ellipse">
            <a:avLst/>
          </a:prstGeom>
          <a:solidFill>
            <a:srgbClr val="FF7A3D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2241" y="5130881"/>
            <a:ext cx="272125" cy="27212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212080" y="495604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 NAS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5212080" y="528523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4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 propres films, avec la qualité du fichier : 4K, 1080p…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7955280" y="4754880"/>
            <a:ext cx="3520440" cy="1280160"/>
          </a:xfrm>
          <a:prstGeom prst="roundRect">
            <a:avLst>
              <a:gd name="adj" fmla="val 11429"/>
            </a:avLst>
          </a:prstGeom>
          <a:solidFill>
            <a:srgbClr val="16161C"/>
          </a:solidFill>
          <a:ln w="9525">
            <a:solidFill>
              <a:srgbClr val="2E2E38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8183880" y="4983480"/>
            <a:ext cx="566928" cy="566928"/>
          </a:xfrm>
          <a:prstGeom prst="ellipse">
            <a:avLst/>
          </a:prstGeom>
          <a:solidFill>
            <a:srgbClr val="FF7A3D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1281" y="5130881"/>
            <a:ext cx="272125" cy="272125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8961120" y="495604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Nulle part ?</a:t>
            </a:r>
            <a:endParaRPr lang="en-US" sz="1600" dirty="0"/>
          </a:p>
        </p:txBody>
      </p:sp>
      <p:sp>
        <p:nvSpPr>
          <p:cNvPr id="25" name="Text 18"/>
          <p:cNvSpPr txBox="1"/>
          <p:nvPr/>
        </p:nvSpPr>
        <p:spPr>
          <a:xfrm>
            <a:off x="8961120" y="528523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4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t'indique où le louer ou l'acheter.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10180015" y="647395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 · 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SOIR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 soirée, prête en quatre gestes.</a:t>
            </a:r>
            <a:endParaRPr lang="en-US" sz="3400" dirty="0"/>
          </a:p>
        </p:txBody>
      </p:sp>
      <p:pic>
        <p:nvPicPr>
          <p:cNvPr id="4" name="Image 0" descr="/private/tmp/claude-501/-Users-patrick--treehouse-Seance-b3e402-2-Seance/af66b438-54fa-4393-a103-e4c352be7338/scratchpad/deck/tmp/tel-ide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080"/>
            <a:ext cx="2159398" cy="4572000"/>
          </a:xfrm>
          <a:prstGeom prst="rect">
            <a:avLst/>
          </a:prstGeom>
        </p:spPr>
      </p:pic>
      <p:pic>
        <p:nvPicPr>
          <p:cNvPr id="5" name="Image 1" descr="/private/tmp/claude-501/-Users-patrick--treehouse-Seance-b3e402-2-Seance/af66b438-54fa-4393-a103-e4c352be7338/scratchpad/deck/tmp/tel-cesoi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240" y="1783080"/>
            <a:ext cx="2159398" cy="45720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806440" y="1783080"/>
            <a:ext cx="5760720" cy="1005840"/>
          </a:xfrm>
          <a:prstGeom prst="roundRect">
            <a:avLst>
              <a:gd name="adj" fmla="val 14545"/>
            </a:avLst>
          </a:prstGeom>
          <a:solidFill>
            <a:srgbClr val="16161C"/>
          </a:solidFill>
          <a:ln w="9525">
            <a:solidFill>
              <a:srgbClr val="2E2E38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6035040" y="2011680"/>
            <a:ext cx="548640" cy="548640"/>
          </a:xfrm>
          <a:prstGeom prst="ellipse">
            <a:avLst/>
          </a:prstGeom>
          <a:solidFill>
            <a:srgbClr val="FF7A3D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603504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0D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6812280" y="192938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Demande une idée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812280" y="22402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4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propositions parmi ce que tu peux vraiment regarder, classées selon tes goûts. Ou « Surprends-moi ».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806440" y="2944368"/>
            <a:ext cx="5760720" cy="1005840"/>
          </a:xfrm>
          <a:prstGeom prst="roundRect">
            <a:avLst>
              <a:gd name="adj" fmla="val 14545"/>
            </a:avLst>
          </a:prstGeom>
          <a:solidFill>
            <a:srgbClr val="16161C"/>
          </a:solidFill>
          <a:ln w="9525">
            <a:solidFill>
              <a:srgbClr val="2E2E38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035040" y="3172968"/>
            <a:ext cx="548640" cy="548640"/>
          </a:xfrm>
          <a:prstGeom prst="ellipse">
            <a:avLst/>
          </a:prstGeom>
          <a:solidFill>
            <a:srgbClr val="FF7A3D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035040" y="3172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0D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6812280" y="309067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Pose-la sur un jour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6812280" y="340156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4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soir, samedi ou un autre jour : une rangée de jours, un toucher.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806440" y="4105656"/>
            <a:ext cx="5760720" cy="1005840"/>
          </a:xfrm>
          <a:prstGeom prst="roundRect">
            <a:avLst>
              <a:gd name="adj" fmla="val 14545"/>
            </a:avLst>
          </a:prstGeom>
          <a:solidFill>
            <a:srgbClr val="16161C"/>
          </a:solidFill>
          <a:ln w="9525">
            <a:solidFill>
              <a:srgbClr val="2E2E3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035040" y="4334256"/>
            <a:ext cx="548640" cy="548640"/>
          </a:xfrm>
          <a:prstGeom prst="ellipse">
            <a:avLst/>
          </a:prstGeom>
          <a:solidFill>
            <a:srgbClr val="FF7A3D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6035040" y="43342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0D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6812280" y="42519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jour venu, un rappel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6812280" y="456285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4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t'y fait penser, avec la chaîne et l'heure si c'est à la télé.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5806440" y="5266944"/>
            <a:ext cx="5760720" cy="1005840"/>
          </a:xfrm>
          <a:prstGeom prst="roundRect">
            <a:avLst>
              <a:gd name="adj" fmla="val 14545"/>
            </a:avLst>
          </a:prstGeom>
          <a:solidFill>
            <a:srgbClr val="16161C"/>
          </a:solidFill>
          <a:ln w="9525">
            <a:solidFill>
              <a:srgbClr val="2E2E38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035040" y="5495544"/>
            <a:ext cx="548640" cy="548640"/>
          </a:xfrm>
          <a:prstGeom prst="ellipse">
            <a:avLst/>
          </a:prstGeom>
          <a:solidFill>
            <a:srgbClr val="FF7A3D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6035040" y="54955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0D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0"/>
          <p:cNvSpPr txBox="1"/>
          <p:nvPr/>
        </p:nvSpPr>
        <p:spPr>
          <a:xfrm>
            <a:off x="6812280" y="54132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Hier soir : regardé ? »</a:t>
            </a:r>
            <a:endParaRPr lang="en-US" sz="1600" dirty="0"/>
          </a:p>
        </p:txBody>
      </p:sp>
      <p:sp>
        <p:nvSpPr>
          <p:cNvPr id="25" name="Text 21"/>
          <p:cNvSpPr txBox="1"/>
          <p:nvPr/>
        </p:nvSpPr>
        <p:spPr>
          <a:xfrm>
            <a:off x="6812280" y="572414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4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lendemain, un geste suffit : vu, reporté à ce soir, ou oublié.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10180015" y="647395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 · 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PROGRAMME TÉLÉ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télé redevient simple.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46888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4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Rien que les films et les séries de tes chaînes, un jour à la fois : la soirée en grandes images, l'heure en grand.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630168"/>
            <a:ext cx="530352" cy="530352"/>
          </a:xfrm>
          <a:prstGeom prst="ellipse">
            <a:avLst/>
          </a:prstGeom>
          <a:solidFill>
            <a:srgbClr val="FF7A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972" y="3768060"/>
            <a:ext cx="254569" cy="25456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361188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cloche sur chaque passage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3922776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4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te prévient un quart d'heure avant le début.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4544568"/>
            <a:ext cx="530352" cy="530352"/>
          </a:xfrm>
          <a:prstGeom prst="ellipse">
            <a:avLst/>
          </a:prstGeom>
          <a:solidFill>
            <a:srgbClr val="FF7A3D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972" y="4682460"/>
            <a:ext cx="254569" cy="254569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71600" y="452628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 liste mise en avant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1371600" y="4837176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4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film que tu voulais voir passe à la télé ? Il ressort.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40080" y="5458968"/>
            <a:ext cx="530352" cy="530352"/>
          </a:xfrm>
          <a:prstGeom prst="ellipse">
            <a:avLst/>
          </a:prstGeom>
          <a:solidFill>
            <a:srgbClr val="FF7A3D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972" y="5596860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371600" y="544068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 jours, par chaîne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1371600" y="5751576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4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épisodes qui s'enchaînent sont réunis en une carte.</a:t>
            </a:r>
            <a:endParaRPr lang="en-US" sz="1300" dirty="0"/>
          </a:p>
        </p:txBody>
      </p:sp>
      <p:pic>
        <p:nvPicPr>
          <p:cNvPr id="17" name="Image 3" descr="/private/tmp/claude-501/-Users-patrick--treehouse-Seance-b3e402-2-Seance/af66b438-54fa-4393-a103-e4c352be7338/scratchpad/deck/tmp/tel-te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731520"/>
            <a:ext cx="2548090" cy="5394960"/>
          </a:xfrm>
          <a:prstGeom prst="rect">
            <a:avLst/>
          </a:prstGeom>
        </p:spPr>
      </p:pic>
      <p:pic>
        <p:nvPicPr>
          <p:cNvPr id="18" name="Image 4" descr="/private/tmp/claude-501/-Users-patrick--treehouse-Seance-b3e402-2-Seance/af66b438-54fa-4393-a103-e4c352be7338/scratchpad/deck/tmp/tel-tele-rappe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9720" y="731520"/>
            <a:ext cx="2548090" cy="539496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0180015" y="647395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 · 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SÉRIES ET LISTES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 séries, épisode par épisode.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29000" cy="4572000"/>
          </a:xfrm>
          <a:prstGeom prst="roundRect">
            <a:avLst>
              <a:gd name="adj" fmla="val 4267"/>
            </a:avLst>
          </a:prstGeom>
          <a:solidFill>
            <a:srgbClr val="16161C"/>
          </a:solidFill>
          <a:ln w="9525">
            <a:solidFill>
              <a:srgbClr val="2E2E38"/>
            </a:solidFill>
            <a:prstDash val="solid"/>
          </a:ln>
        </p:spPr>
      </p:sp>
      <p:pic>
        <p:nvPicPr>
          <p:cNvPr id="5" name="Image 0" descr="/private/tmp/claude-501/-Users-patrick--treehouse-Seance-b3e402-2-Seance/af66b438-54fa-4393-a103-e4c352be7338/scratchpad/deck/tmp/tel-episod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994" y="1920240"/>
            <a:ext cx="1533173" cy="32461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528523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Où tu en es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559612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4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prochain épisode, saison par saison, coché d'un geste.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389120" y="1737360"/>
            <a:ext cx="3429000" cy="4572000"/>
          </a:xfrm>
          <a:prstGeom prst="roundRect">
            <a:avLst>
              <a:gd name="adj" fmla="val 4267"/>
            </a:avLst>
          </a:prstGeom>
          <a:solidFill>
            <a:srgbClr val="16161C"/>
          </a:solidFill>
          <a:ln w="9525">
            <a:solidFill>
              <a:srgbClr val="2E2E38"/>
            </a:solidFill>
            <a:prstDash val="solid"/>
          </a:ln>
        </p:spPr>
      </p:sp>
      <p:pic>
        <p:nvPicPr>
          <p:cNvPr id="9" name="Image 1" descr="/private/tmp/claude-501/-Users-patrick--treehouse-Seance-b3e402-2-Seance/af66b438-54fa-4393-a103-e4c352be7338/scratchpad/deck/tmp/tel-aveni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7034" y="1920240"/>
            <a:ext cx="1533173" cy="32461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572000" y="528523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qui arrive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4572000" y="559612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4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Nouvel épisode, sortie d'un film, passage télé : chaque rendez-vous a sa carte.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8138160" y="1737360"/>
            <a:ext cx="3429000" cy="4572000"/>
          </a:xfrm>
          <a:prstGeom prst="roundRect">
            <a:avLst>
              <a:gd name="adj" fmla="val 4267"/>
            </a:avLst>
          </a:prstGeom>
          <a:solidFill>
            <a:srgbClr val="16161C"/>
          </a:solidFill>
          <a:ln w="9525">
            <a:solidFill>
              <a:srgbClr val="2E2E38"/>
            </a:solidFill>
            <a:prstDash val="solid"/>
          </a:ln>
        </p:spPr>
      </p:sp>
      <p:pic>
        <p:nvPicPr>
          <p:cNvPr id="13" name="Image 2" descr="/private/tmp/claude-501/-Users-patrick--treehouse-Seance-b3e402-2-Seance/af66b438-54fa-4393-a103-e4c352be7338/scratchpad/deck/tmp/tel-liste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6074" y="1920240"/>
            <a:ext cx="1533173" cy="32461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321040" y="528523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 listes, à ta façon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8321040" y="559612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4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voir, en cours, terminés — et les tiennes, en affiches ou en liste.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10180015" y="647395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 · 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patrick--treehouse-Seance-b3e402-2-Seance/af66b438-54fa-4393-a103-e4c352be7338/scratchpad/deck/tmp/tel-na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731520"/>
            <a:ext cx="2548090" cy="5394960"/>
          </a:xfrm>
          <a:prstGeom prst="rect">
            <a:avLst/>
          </a:prstGeom>
        </p:spPr>
      </p:pic>
      <p:pic>
        <p:nvPicPr>
          <p:cNvPr id="3" name="Image 1" descr="/private/tmp/claude-501/-Users-patrick--treehouse-Seance-b3e402-2-Seance/af66b438-54fa-4393-a103-e4c352be7338/scratchpad/deck/tmp/tel-fich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731520"/>
            <a:ext cx="2548090" cy="53949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30936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 NAS · D'UNE APP À L'AUTRE</a:t>
            </a:r>
            <a:endParaRPr lang="en-US" sz="1200" dirty="0"/>
          </a:p>
        </p:txBody>
      </p:sp>
      <p:sp>
        <p:nvSpPr>
          <p:cNvPr id="5" name="Text 1"/>
          <p:cNvSpPr txBox="1"/>
          <p:nvPr/>
        </p:nvSpPr>
        <p:spPr>
          <a:xfrm>
            <a:off x="6309360" y="118872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toucher, et le film démarre.</a:t>
            </a:r>
            <a:endParaRPr lang="en-US" sz="3400" dirty="0"/>
          </a:p>
        </p:txBody>
      </p:sp>
      <p:sp>
        <p:nvSpPr>
          <p:cNvPr id="6" name="Text 2"/>
          <p:cNvSpPr txBox="1"/>
          <p:nvPr/>
        </p:nvSpPr>
        <p:spPr>
          <a:xfrm>
            <a:off x="6309360" y="246888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4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reconnaît les films et les séries de ton NAS, leur donne une affiche, et passe la main à ton lecteur vidéo.</a:t>
            </a:r>
            <a:endParaRPr lang="en-US" sz="1500" dirty="0"/>
          </a:p>
        </p:txBody>
      </p:sp>
      <p:sp>
        <p:nvSpPr>
          <p:cNvPr id="7" name="Shape 3"/>
          <p:cNvSpPr/>
          <p:nvPr/>
        </p:nvSpPr>
        <p:spPr>
          <a:xfrm>
            <a:off x="6309360" y="3611880"/>
            <a:ext cx="1508760" cy="1417320"/>
          </a:xfrm>
          <a:prstGeom prst="roundRect">
            <a:avLst>
              <a:gd name="adj" fmla="val 10323"/>
            </a:avLst>
          </a:prstGeom>
          <a:solidFill>
            <a:srgbClr val="1F1F27"/>
          </a:solidFill>
          <a:ln w="9525">
            <a:solidFill>
              <a:srgbClr val="2E2E38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6793992" y="3749040"/>
            <a:ext cx="530352" cy="530352"/>
          </a:xfrm>
          <a:prstGeom prst="ellipse">
            <a:avLst/>
          </a:prstGeom>
          <a:solidFill>
            <a:srgbClr val="FF7A3D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1884" y="3886932"/>
            <a:ext cx="254569" cy="254569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309360" y="437083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</a:t>
            </a:r>
            <a:endParaRPr lang="en-US" sz="1300" dirty="0"/>
          </a:p>
        </p:txBody>
      </p:sp>
      <p:sp>
        <p:nvSpPr>
          <p:cNvPr id="11" name="Text 6"/>
          <p:cNvSpPr txBox="1"/>
          <p:nvPr/>
        </p:nvSpPr>
        <p:spPr>
          <a:xfrm>
            <a:off x="6309360" y="464515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4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choisis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2984" y="4206240"/>
            <a:ext cx="219456" cy="219456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8138160" y="3611880"/>
            <a:ext cx="1508760" cy="1417320"/>
          </a:xfrm>
          <a:prstGeom prst="roundRect">
            <a:avLst>
              <a:gd name="adj" fmla="val 10323"/>
            </a:avLst>
          </a:prstGeom>
          <a:solidFill>
            <a:srgbClr val="1F1F27"/>
          </a:solidFill>
          <a:ln w="9525">
            <a:solidFill>
              <a:srgbClr val="2E2E38"/>
            </a:solidFill>
            <a:prstDash val="solid"/>
          </a:ln>
        </p:spPr>
      </p:sp>
      <p:sp>
        <p:nvSpPr>
          <p:cNvPr id="14" name="Shape 8"/>
          <p:cNvSpPr/>
          <p:nvPr/>
        </p:nvSpPr>
        <p:spPr>
          <a:xfrm>
            <a:off x="8622792" y="3749040"/>
            <a:ext cx="530352" cy="530352"/>
          </a:xfrm>
          <a:prstGeom prst="ellipse">
            <a:avLst/>
          </a:prstGeom>
          <a:solidFill>
            <a:srgbClr val="FF7A3D"/>
          </a:solidFill>
          <a:ln/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0684" y="3886932"/>
            <a:ext cx="254569" cy="254569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8138160" y="437083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Infuse ou VLC</a:t>
            </a:r>
            <a:endParaRPr lang="en-US" sz="1300" dirty="0"/>
          </a:p>
        </p:txBody>
      </p:sp>
      <p:sp>
        <p:nvSpPr>
          <p:cNvPr id="17" name="Text 10"/>
          <p:cNvSpPr txBox="1"/>
          <p:nvPr/>
        </p:nvSpPr>
        <p:spPr>
          <a:xfrm>
            <a:off x="8138160" y="464515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4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vidéo s'ouvre</a:t>
            </a:r>
            <a:endParaRPr lang="en-US" sz="11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01784" y="4206240"/>
            <a:ext cx="219456" cy="219456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9966960" y="3611880"/>
            <a:ext cx="1508760" cy="1417320"/>
          </a:xfrm>
          <a:prstGeom prst="roundRect">
            <a:avLst>
              <a:gd name="adj" fmla="val 10323"/>
            </a:avLst>
          </a:prstGeom>
          <a:solidFill>
            <a:srgbClr val="1F1F27"/>
          </a:solidFill>
          <a:ln w="9525">
            <a:solidFill>
              <a:srgbClr val="2E2E38"/>
            </a:solidFill>
            <a:prstDash val="solid"/>
          </a:ln>
        </p:spPr>
      </p:sp>
      <p:sp>
        <p:nvSpPr>
          <p:cNvPr id="20" name="Shape 12"/>
          <p:cNvSpPr/>
          <p:nvPr/>
        </p:nvSpPr>
        <p:spPr>
          <a:xfrm>
            <a:off x="10451592" y="3749040"/>
            <a:ext cx="530352" cy="530352"/>
          </a:xfrm>
          <a:prstGeom prst="ellipse">
            <a:avLst/>
          </a:prstGeom>
          <a:solidFill>
            <a:srgbClr val="FF7A3D"/>
          </a:solidFill>
          <a:ln/>
        </p:spPr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89484" y="3886932"/>
            <a:ext cx="254569" cy="254569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9966960" y="437083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</a:t>
            </a:r>
            <a:endParaRPr lang="en-US" sz="1300" dirty="0"/>
          </a:p>
        </p:txBody>
      </p:sp>
      <p:sp>
        <p:nvSpPr>
          <p:cNvPr id="23" name="Text 14"/>
          <p:cNvSpPr txBox="1"/>
          <p:nvPr/>
        </p:nvSpPr>
        <p:spPr>
          <a:xfrm>
            <a:off x="9966960" y="464515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4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sans rien chercher</a:t>
            </a:r>
            <a:endParaRPr lang="en-US" sz="1100" dirty="0"/>
          </a:p>
        </p:txBody>
      </p:sp>
      <p:sp>
        <p:nvSpPr>
          <p:cNvPr id="24" name="Text 15"/>
          <p:cNvSpPr txBox="1"/>
          <p:nvPr/>
        </p:nvSpPr>
        <p:spPr>
          <a:xfrm>
            <a:off x="6309360" y="5349240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4K, 1080p</a:t>
            </a:r>
            <a:pPr indent="0" marL="0">
              <a:buNone/>
            </a:pPr>
            <a:r>
              <a:rPr lang="en-US" sz="1200" dirty="0">
                <a:solidFill>
                  <a:srgbClr val="A4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 badge sur chaque fichier   ·   </a:t>
            </a:r>
            <a:pPr indent="0" marL="0">
              <a:buNone/>
            </a:pPr>
            <a:r>
              <a:rPr lang="en-US" sz="1200" b="1" dirty="0">
                <a:solidFill>
                  <a:srgbClr val="FF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liseré orange</a:t>
            </a:r>
            <a:pPr indent="0" marL="0">
              <a:buNone/>
            </a:pPr>
            <a:r>
              <a:rPr lang="en-US" sz="1200" dirty="0">
                <a:solidFill>
                  <a:srgbClr val="A4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pour ta liste   ·   un œil sur ce que tu as déjà vu</a:t>
            </a:r>
            <a:endParaRPr lang="en-US" sz="1200" dirty="0"/>
          </a:p>
        </p:txBody>
      </p:sp>
      <p:sp>
        <p:nvSpPr>
          <p:cNvPr id="25" name="Text 16"/>
          <p:cNvSpPr txBox="1"/>
          <p:nvPr/>
        </p:nvSpPr>
        <p:spPr>
          <a:xfrm>
            <a:off x="10180015" y="647395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 ·  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 TES APPAREILS APPLE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même soirée, sur tous tes écrans.</a:t>
            </a:r>
            <a:endParaRPr lang="en-US" sz="3400" dirty="0"/>
          </a:p>
        </p:txBody>
      </p:sp>
      <p:pic>
        <p:nvPicPr>
          <p:cNvPr id="4" name="Image 0" descr="/private/tmp/claude-501/-Users-patrick--treehouse-Seance-b3e402-2-Seance/af66b438-54fa-4393-a103-e4c352be7338/scratchpad/deck/tmp/tel-cesoi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017520"/>
            <a:ext cx="1101293" cy="2331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465047" y="2743200"/>
            <a:ext cx="0" cy="201168"/>
          </a:xfrm>
          <a:prstGeom prst="line">
            <a:avLst/>
          </a:prstGeom>
          <a:noFill/>
          <a:ln w="22225">
            <a:solidFill>
              <a:srgbClr val="FF7A3D"/>
            </a:solidFill>
            <a:prstDash val="dash"/>
          </a:ln>
        </p:spPr>
      </p:sp>
      <p:sp>
        <p:nvSpPr>
          <p:cNvPr id="6" name="Shape 3"/>
          <p:cNvSpPr/>
          <p:nvPr/>
        </p:nvSpPr>
        <p:spPr>
          <a:xfrm>
            <a:off x="1410183" y="2889504"/>
            <a:ext cx="109728" cy="109728"/>
          </a:xfrm>
          <a:prstGeom prst="ellipse">
            <a:avLst/>
          </a:prstGeom>
          <a:solidFill>
            <a:srgbClr val="FF7A3D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84887" y="5486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iPhone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84887" y="57790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4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notes, tu coches, tu prévois</a:t>
            </a:r>
            <a:endParaRPr lang="en-US" sz="1100" dirty="0"/>
          </a:p>
        </p:txBody>
      </p:sp>
      <p:pic>
        <p:nvPicPr>
          <p:cNvPr id="9" name="Image 1" descr="/private/tmp/claude-501/-Users-patrick--treehouse-Seance-b3e402-2-Seance/af66b438-54fa-4393-a103-e4c352be7338/scratchpad/deck/tmp/ip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040" y="3470206"/>
            <a:ext cx="2651760" cy="187903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931920" y="2743200"/>
            <a:ext cx="0" cy="653854"/>
          </a:xfrm>
          <a:prstGeom prst="line">
            <a:avLst/>
          </a:prstGeom>
          <a:noFill/>
          <a:ln w="22225">
            <a:solidFill>
              <a:srgbClr val="FF7A3D"/>
            </a:solidFill>
            <a:prstDash val="dash"/>
          </a:ln>
        </p:spPr>
      </p:sp>
      <p:sp>
        <p:nvSpPr>
          <p:cNvPr id="11" name="Shape 7"/>
          <p:cNvSpPr/>
          <p:nvPr/>
        </p:nvSpPr>
        <p:spPr>
          <a:xfrm>
            <a:off x="3877056" y="3342190"/>
            <a:ext cx="109728" cy="109728"/>
          </a:xfrm>
          <a:prstGeom prst="ellipse">
            <a:avLst/>
          </a:prstGeom>
          <a:solidFill>
            <a:srgbClr val="FF7A3D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2651760" y="5486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iPad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2651760" y="57790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4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Barre latérale, grandes grilles</a:t>
            </a:r>
            <a:endParaRPr lang="en-US" sz="1100" dirty="0"/>
          </a:p>
        </p:txBody>
      </p:sp>
      <p:pic>
        <p:nvPicPr>
          <p:cNvPr id="14" name="Image 2" descr="/private/tmp/claude-501/-Users-patrick--treehouse-Seance-b3e402-2-Seance/af66b438-54fa-4393-a103-e4c352be7338/scratchpad/deck/tmp/ma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3502829"/>
            <a:ext cx="2926080" cy="1846411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7086600" y="2743200"/>
            <a:ext cx="0" cy="686477"/>
          </a:xfrm>
          <a:prstGeom prst="line">
            <a:avLst/>
          </a:prstGeom>
          <a:noFill/>
          <a:ln w="22225">
            <a:solidFill>
              <a:srgbClr val="FF7A3D"/>
            </a:solidFill>
            <a:prstDash val="dash"/>
          </a:ln>
        </p:spPr>
      </p:sp>
      <p:sp>
        <p:nvSpPr>
          <p:cNvPr id="16" name="Shape 11"/>
          <p:cNvSpPr/>
          <p:nvPr/>
        </p:nvSpPr>
        <p:spPr>
          <a:xfrm>
            <a:off x="7031736" y="3374813"/>
            <a:ext cx="109728" cy="109728"/>
          </a:xfrm>
          <a:prstGeom prst="ellipse">
            <a:avLst/>
          </a:prstGeom>
          <a:solidFill>
            <a:srgbClr val="FF7A3D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5806440" y="5486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5806440" y="57790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4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même app, au clavier</a:t>
            </a:r>
            <a:endParaRPr lang="en-US" sz="1100" dirty="0"/>
          </a:p>
        </p:txBody>
      </p:sp>
      <p:pic>
        <p:nvPicPr>
          <p:cNvPr id="19" name="Image 3" descr="/private/tmp/claude-501/-Users-patrick--treehouse-Seance-b3e402-2-Seance/af66b438-54fa-4393-a103-e4c352be7338/scratchpad/deck/tmp/tv-cesoi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0" y="3834823"/>
            <a:ext cx="2514600" cy="1514417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10309860" y="2487168"/>
            <a:ext cx="0" cy="1274503"/>
          </a:xfrm>
          <a:prstGeom prst="line">
            <a:avLst/>
          </a:prstGeom>
          <a:noFill/>
          <a:ln w="22225">
            <a:solidFill>
              <a:srgbClr val="22D17A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10254996" y="3706807"/>
            <a:ext cx="109728" cy="109728"/>
          </a:xfrm>
          <a:prstGeom prst="ellipse">
            <a:avLst/>
          </a:prstGeom>
          <a:solidFill>
            <a:srgbClr val="22D17A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9029700" y="5486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TV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9029700" y="57790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4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canapé, à la télécommande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1465047" y="2743200"/>
            <a:ext cx="5621553" cy="0"/>
          </a:xfrm>
          <a:prstGeom prst="line">
            <a:avLst/>
          </a:prstGeom>
          <a:noFill/>
          <a:ln w="22225">
            <a:solidFill>
              <a:srgbClr val="FF7A3D"/>
            </a:solidFill>
            <a:prstDash val="dash"/>
          </a:ln>
        </p:spPr>
      </p:sp>
      <p:sp>
        <p:nvSpPr>
          <p:cNvPr id="25" name="Shape 19"/>
          <p:cNvSpPr/>
          <p:nvPr/>
        </p:nvSpPr>
        <p:spPr>
          <a:xfrm>
            <a:off x="4297680" y="2487168"/>
            <a:ext cx="0" cy="256032"/>
          </a:xfrm>
          <a:prstGeom prst="line">
            <a:avLst/>
          </a:prstGeom>
          <a:noFill/>
          <a:ln w="22225">
            <a:solidFill>
              <a:srgbClr val="FF7A3D"/>
            </a:solidFill>
            <a:prstDash val="dash"/>
          </a:ln>
        </p:spPr>
      </p:sp>
      <p:sp>
        <p:nvSpPr>
          <p:cNvPr id="26" name="Shape 20"/>
          <p:cNvSpPr/>
          <p:nvPr/>
        </p:nvSpPr>
        <p:spPr>
          <a:xfrm>
            <a:off x="1920240" y="1691640"/>
            <a:ext cx="4754880" cy="795528"/>
          </a:xfrm>
          <a:prstGeom prst="roundRect">
            <a:avLst>
              <a:gd name="adj" fmla="val 18391"/>
            </a:avLst>
          </a:prstGeom>
          <a:solidFill>
            <a:srgbClr val="1F1F27"/>
          </a:solidFill>
          <a:ln w="9525">
            <a:solidFill>
              <a:srgbClr val="2E2E38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48840" y="1883664"/>
            <a:ext cx="420624" cy="420624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2743200" y="18013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iCloud Drive</a:t>
            </a:r>
            <a:endParaRPr lang="en-US" sz="1500" dirty="0"/>
          </a:p>
        </p:txBody>
      </p:sp>
      <p:sp>
        <p:nvSpPr>
          <p:cNvPr id="29" name="Text 22"/>
          <p:cNvSpPr txBox="1"/>
          <p:nvPr/>
        </p:nvSpPr>
        <p:spPr>
          <a:xfrm>
            <a:off x="2743200" y="20939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4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tu notes sur l'un arrive sur les autres, tout seul.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8663940" y="1691640"/>
            <a:ext cx="3291840" cy="795528"/>
          </a:xfrm>
          <a:prstGeom prst="roundRect">
            <a:avLst>
              <a:gd name="adj" fmla="val 18391"/>
            </a:avLst>
          </a:prstGeom>
          <a:solidFill>
            <a:srgbClr val="1F1F27"/>
          </a:solidFill>
          <a:ln w="9525">
            <a:solidFill>
              <a:srgbClr val="2E2E38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92540" y="1883664"/>
            <a:ext cx="420624" cy="420624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486900" y="18013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 NAS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9486900" y="209397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4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même vidéothèque, partout.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640080" y="6144768"/>
            <a:ext cx="3749040" cy="384048"/>
          </a:xfrm>
          <a:prstGeom prst="roundRect">
            <a:avLst>
              <a:gd name="adj" fmla="val 50000"/>
            </a:avLst>
          </a:prstGeom>
          <a:solidFill>
            <a:srgbClr val="1F1F27"/>
          </a:solidFill>
          <a:ln w="9525">
            <a:solidFill>
              <a:srgbClr val="2E2E38"/>
            </a:solidFill>
            <a:prstDash val="solid"/>
          </a:ln>
        </p:spPr>
      </p:sp>
      <p:sp>
        <p:nvSpPr>
          <p:cNvPr id="35" name="Text 27"/>
          <p:cNvSpPr txBox="1"/>
          <p:nvPr/>
        </p:nvSpPr>
        <p:spPr>
          <a:xfrm>
            <a:off x="640080" y="614476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AirDrop : toute ta collection dans un fichier</a:t>
            </a:r>
            <a:endParaRPr lang="en-US" sz="1200" dirty="0"/>
          </a:p>
        </p:txBody>
      </p:sp>
      <p:sp>
        <p:nvSpPr>
          <p:cNvPr id="36" name="Shape 28"/>
          <p:cNvSpPr/>
          <p:nvPr/>
        </p:nvSpPr>
        <p:spPr>
          <a:xfrm>
            <a:off x="4526280" y="6144768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1F1F27"/>
          </a:solidFill>
          <a:ln w="9525">
            <a:solidFill>
              <a:srgbClr val="2E2E38"/>
            </a:solidFill>
            <a:prstDash val="solid"/>
          </a:ln>
        </p:spPr>
      </p:sp>
      <p:sp>
        <p:nvSpPr>
          <p:cNvPr id="37" name="Text 29"/>
          <p:cNvSpPr txBox="1"/>
          <p:nvPr/>
        </p:nvSpPr>
        <p:spPr>
          <a:xfrm>
            <a:off x="4526280" y="614476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Sans compte à créer</a:t>
            </a:r>
            <a:endParaRPr lang="en-US" sz="1200" dirty="0"/>
          </a:p>
        </p:txBody>
      </p:sp>
      <p:sp>
        <p:nvSpPr>
          <p:cNvPr id="38" name="Text 30"/>
          <p:cNvSpPr txBox="1"/>
          <p:nvPr/>
        </p:nvSpPr>
        <p:spPr>
          <a:xfrm>
            <a:off x="6858000" y="61996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A4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TV : tes listes arriveront par le NAS (en préparation).</a:t>
            </a:r>
            <a:endParaRPr lang="en-US" sz="1100" dirty="0"/>
          </a:p>
        </p:txBody>
      </p:sp>
      <p:sp>
        <p:nvSpPr>
          <p:cNvPr id="39" name="Text 31"/>
          <p:cNvSpPr txBox="1"/>
          <p:nvPr/>
        </p:nvSpPr>
        <p:spPr>
          <a:xfrm>
            <a:off x="10180015" y="647395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 ·  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NOUVEAU · APPLE TV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arrive sur le grand écran.</a:t>
            </a:r>
            <a:endParaRPr lang="en-US" sz="3400" dirty="0"/>
          </a:p>
        </p:txBody>
      </p:sp>
      <p:pic>
        <p:nvPicPr>
          <p:cNvPr id="4" name="Image 0" descr="/private/tmp/claude-501/-Users-patrick--treehouse-Seance-b3e402-2-Seance/af66b438-54fa-4393-a103-e4c352be7338/scratchpad/deck/tmp/tv-na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080"/>
            <a:ext cx="6858000" cy="413022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955280" y="1938528"/>
            <a:ext cx="530352" cy="530352"/>
          </a:xfrm>
          <a:prstGeom prst="ellipse">
            <a:avLst/>
          </a:prstGeom>
          <a:solidFill>
            <a:srgbClr val="FF7A3D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3172" y="2076420"/>
            <a:ext cx="254569" cy="254569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686800" y="19202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Tout à la télécommande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8686800" y="2231136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4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 soirée et ton NAS en grandes affiches, lisibles du canapé.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7955280" y="3172968"/>
            <a:ext cx="530352" cy="530352"/>
          </a:xfrm>
          <a:prstGeom prst="ellipse">
            <a:avLst/>
          </a:prstGeom>
          <a:solidFill>
            <a:srgbClr val="FF7A3D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3172" y="3310860"/>
            <a:ext cx="254569" cy="254569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686800" y="31546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Lire avec Infuse »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8686800" y="3465576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4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choisis un titre, la lecture démarre dans Infuse.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7955280" y="4407408"/>
            <a:ext cx="530352" cy="530352"/>
          </a:xfrm>
          <a:prstGeom prst="ellipse">
            <a:avLst/>
          </a:prstGeom>
          <a:solidFill>
            <a:srgbClr val="FF7A3D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3172" y="4545300"/>
            <a:ext cx="254569" cy="254569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686800" y="43891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par principe</a:t>
            </a:r>
            <a:endParaRPr lang="en-US" sz="1600" dirty="0"/>
          </a:p>
        </p:txBody>
      </p:sp>
      <p:sp>
        <p:nvSpPr>
          <p:cNvPr id="16" name="Text 10"/>
          <p:cNvSpPr txBox="1"/>
          <p:nvPr/>
        </p:nvSpPr>
        <p:spPr>
          <a:xfrm>
            <a:off x="8686800" y="4700016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4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réglages fins se font sur l'iPhone, l'iPad ou le Mac.</a:t>
            </a:r>
            <a:endParaRPr lang="en-US" sz="1300" dirty="0"/>
          </a:p>
        </p:txBody>
      </p:sp>
      <p:sp>
        <p:nvSpPr>
          <p:cNvPr id="17" name="Text 11"/>
          <p:cNvSpPr txBox="1"/>
          <p:nvPr/>
        </p:nvSpPr>
        <p:spPr>
          <a:xfrm>
            <a:off x="10180015" y="647395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 ·  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D'UNE APP À L'AUTRE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s'entend avec tout le reste.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377440" cy="2057400"/>
          </a:xfrm>
          <a:prstGeom prst="roundRect">
            <a:avLst>
              <a:gd name="adj" fmla="val 7111"/>
            </a:avLst>
          </a:prstGeom>
          <a:solidFill>
            <a:srgbClr val="16161C"/>
          </a:solidFill>
          <a:ln w="9525">
            <a:solidFill>
              <a:srgbClr val="2E2E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011680"/>
            <a:ext cx="566928" cy="566928"/>
          </a:xfrm>
          <a:prstGeom prst="ellipse">
            <a:avLst/>
          </a:prstGeom>
          <a:solidFill>
            <a:srgbClr val="FF7A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81" y="2159081"/>
            <a:ext cx="272125" cy="27212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271576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Siri et Raccourcis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026664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4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Ajoute Heat à ma soirée » : Siri s'en charge.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46120" y="1783080"/>
            <a:ext cx="2377440" cy="2057400"/>
          </a:xfrm>
          <a:prstGeom prst="roundRect">
            <a:avLst>
              <a:gd name="adj" fmla="val 7111"/>
            </a:avLst>
          </a:prstGeom>
          <a:solidFill>
            <a:srgbClr val="16161C"/>
          </a:solidFill>
          <a:ln w="9525">
            <a:solidFill>
              <a:srgbClr val="2E2E3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74720" y="2011680"/>
            <a:ext cx="566928" cy="566928"/>
          </a:xfrm>
          <a:prstGeom prst="ellipse">
            <a:avLst/>
          </a:prstGeom>
          <a:solidFill>
            <a:srgbClr val="FF7A3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2121" y="2159081"/>
            <a:ext cx="272125" cy="27212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474720" y="271576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Widgets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3474720" y="3026664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4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 soirée et tes rendez-vous sur l'écran d'accueil.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852160" y="1783080"/>
            <a:ext cx="2377440" cy="2057400"/>
          </a:xfrm>
          <a:prstGeom prst="roundRect">
            <a:avLst>
              <a:gd name="adj" fmla="val 7111"/>
            </a:avLst>
          </a:prstGeom>
          <a:solidFill>
            <a:srgbClr val="16161C"/>
          </a:solidFill>
          <a:ln w="9525">
            <a:solidFill>
              <a:srgbClr val="2E2E3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080760" y="2011680"/>
            <a:ext cx="566928" cy="566928"/>
          </a:xfrm>
          <a:prstGeom prst="ellipse">
            <a:avLst/>
          </a:prstGeom>
          <a:solidFill>
            <a:srgbClr val="FF7A3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8161" y="2159081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080760" y="271576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Notifications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6080760" y="3026664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4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Nouvel épisode, passage télé : calculées sur l'appareil.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0080" y="4069080"/>
            <a:ext cx="2377440" cy="2057400"/>
          </a:xfrm>
          <a:prstGeom prst="roundRect">
            <a:avLst>
              <a:gd name="adj" fmla="val 7111"/>
            </a:avLst>
          </a:prstGeom>
          <a:solidFill>
            <a:srgbClr val="16161C"/>
          </a:solidFill>
          <a:ln w="9525">
            <a:solidFill>
              <a:srgbClr val="2E2E3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68680" y="4297680"/>
            <a:ext cx="566928" cy="566928"/>
          </a:xfrm>
          <a:prstGeom prst="ellipse">
            <a:avLst/>
          </a:prstGeom>
          <a:solidFill>
            <a:srgbClr val="FF7A3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081" y="4445081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68680" y="500176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Infuse et VLC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868680" y="5312664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4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vidéo du NAS s'ouvre dans ton lecteur.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3246120" y="4069080"/>
            <a:ext cx="2377440" cy="2057400"/>
          </a:xfrm>
          <a:prstGeom prst="roundRect">
            <a:avLst>
              <a:gd name="adj" fmla="val 7111"/>
            </a:avLst>
          </a:prstGeom>
          <a:solidFill>
            <a:srgbClr val="16161C"/>
          </a:solidFill>
          <a:ln w="9525">
            <a:solidFill>
              <a:srgbClr val="2E2E3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3474720" y="4297680"/>
            <a:ext cx="566928" cy="566928"/>
          </a:xfrm>
          <a:prstGeom prst="ellipse">
            <a:avLst/>
          </a:prstGeom>
          <a:solidFill>
            <a:srgbClr val="FF7A3D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2121" y="4445081"/>
            <a:ext cx="272125" cy="272125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3474720" y="500176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AirDrop et Fichiers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3474720" y="5312664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4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 collection dans un fichier, vers un autre appareil.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5852160" y="4069080"/>
            <a:ext cx="2377440" cy="2057400"/>
          </a:xfrm>
          <a:prstGeom prst="roundRect">
            <a:avLst>
              <a:gd name="adj" fmla="val 7111"/>
            </a:avLst>
          </a:prstGeom>
          <a:solidFill>
            <a:srgbClr val="16161C"/>
          </a:solidFill>
          <a:ln w="9525">
            <a:solidFill>
              <a:srgbClr val="2E2E3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080760" y="4297680"/>
            <a:ext cx="566928" cy="566928"/>
          </a:xfrm>
          <a:prstGeom prst="ellipse">
            <a:avLst/>
          </a:prstGeom>
          <a:solidFill>
            <a:srgbClr val="FF7A3D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28161" y="4445081"/>
            <a:ext cx="272125" cy="272125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6080760" y="500176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Partage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6080760" y="5312664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4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 bilan de l'année, en cartes à envoyer à tes amis.</a:t>
            </a:r>
            <a:endParaRPr lang="en-US" sz="1200" dirty="0"/>
          </a:p>
        </p:txBody>
      </p:sp>
      <p:pic>
        <p:nvPicPr>
          <p:cNvPr id="34" name="Image 6" descr="/private/tmp/claude-501/-Users-patrick--treehouse-Seance-b3e402-2-Seance/af66b438-54fa-4393-a103-e4c352be7338/scratchpad/deck/tmp/bilan-1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41080" y="1783080"/>
            <a:ext cx="1689032" cy="3017520"/>
          </a:xfrm>
          <a:prstGeom prst="rect">
            <a:avLst/>
          </a:prstGeom>
        </p:spPr>
      </p:pic>
      <p:pic>
        <p:nvPicPr>
          <p:cNvPr id="35" name="Image 7" descr="/private/tmp/claude-501/-Users-patrick--treehouse-Seance-b3e402-2-Seance/af66b438-54fa-4393-a103-e4c352be7338/scratchpad/deck/tmp/bilan-5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12680" y="2651760"/>
            <a:ext cx="1689032" cy="3017520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8641080" y="58064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A4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 bilan, en cartes à partager</a:t>
            </a:r>
            <a:endParaRPr lang="en-US" sz="1100" dirty="0"/>
          </a:p>
        </p:txBody>
      </p:sp>
      <p:sp>
        <p:nvSpPr>
          <p:cNvPr id="37" name="Text 27"/>
          <p:cNvSpPr txBox="1"/>
          <p:nvPr/>
        </p:nvSpPr>
        <p:spPr>
          <a:xfrm>
            <a:off x="10180015" y="647395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 ·  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patrick--treehouse-Seance-b3e402-2-Seance/af66b438-54fa-4393-a103-e4c352be7338/scratchpad/deck/tmp/tel-bienven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685800"/>
            <a:ext cx="2591278" cy="5486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29768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FINIR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297680" y="118872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Prêt pour ta prochaine séance ?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4297680" y="2606040"/>
            <a:ext cx="2240280" cy="1417320"/>
          </a:xfrm>
          <a:prstGeom prst="roundRect">
            <a:avLst>
              <a:gd name="adj" fmla="val 10323"/>
            </a:avLst>
          </a:prstGeom>
          <a:solidFill>
            <a:srgbClr val="16161C"/>
          </a:solidFill>
          <a:ln w="9525">
            <a:solidFill>
              <a:srgbClr val="2E2E3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297680" y="265176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7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4297680" y="354787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4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compte à créer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766560" y="2606040"/>
            <a:ext cx="2240280" cy="1417320"/>
          </a:xfrm>
          <a:prstGeom prst="roundRect">
            <a:avLst>
              <a:gd name="adj" fmla="val 10323"/>
            </a:avLst>
          </a:prstGeom>
          <a:solidFill>
            <a:srgbClr val="16161C"/>
          </a:solidFill>
          <a:ln w="9525">
            <a:solidFill>
              <a:srgbClr val="2E2E3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766560" y="265176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7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5400" dirty="0"/>
          </a:p>
        </p:txBody>
      </p:sp>
      <p:sp>
        <p:nvSpPr>
          <p:cNvPr id="10" name="Text 7"/>
          <p:cNvSpPr txBox="1"/>
          <p:nvPr/>
        </p:nvSpPr>
        <p:spPr>
          <a:xfrm>
            <a:off x="6766560" y="354787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4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publicité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9235440" y="2606040"/>
            <a:ext cx="2240280" cy="1417320"/>
          </a:xfrm>
          <a:prstGeom prst="roundRect">
            <a:avLst>
              <a:gd name="adj" fmla="val 10323"/>
            </a:avLst>
          </a:prstGeom>
          <a:solidFill>
            <a:srgbClr val="16161C"/>
          </a:solidFill>
          <a:ln w="9525">
            <a:solidFill>
              <a:srgbClr val="2E2E3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235440" y="265176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7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5400" dirty="0"/>
          </a:p>
        </p:txBody>
      </p:sp>
      <p:sp>
        <p:nvSpPr>
          <p:cNvPr id="13" name="Text 10"/>
          <p:cNvSpPr txBox="1"/>
          <p:nvPr/>
        </p:nvSpPr>
        <p:spPr>
          <a:xfrm>
            <a:off x="9235440" y="354787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4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suivi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297680" y="43434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minute, et c'est parti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297680" y="4773168"/>
            <a:ext cx="329184" cy="329184"/>
          </a:xfrm>
          <a:prstGeom prst="ellipse">
            <a:avLst/>
          </a:prstGeom>
          <a:solidFill>
            <a:srgbClr val="FF7A3D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297680" y="4773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0D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4800600" y="480060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Coche tes plateformes et tes chaînes.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297680" y="5230368"/>
            <a:ext cx="329184" cy="329184"/>
          </a:xfrm>
          <a:prstGeom prst="ellipse">
            <a:avLst/>
          </a:prstGeom>
          <a:solidFill>
            <a:srgbClr val="FF7A3D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4297680" y="5230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0D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4800600" y="525780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Dis-lui ce que tu aimes : quelques genres, quelques notes.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297680" y="5687568"/>
            <a:ext cx="329184" cy="329184"/>
          </a:xfrm>
          <a:prstGeom prst="ellipse">
            <a:avLst/>
          </a:prstGeom>
          <a:solidFill>
            <a:srgbClr val="FF7A3D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4297680" y="56875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0D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4800600" y="571500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C'est prêt : ta première soirée t'attend.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4297680" y="623620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E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Écrans présentés avec un profil de démonstration. Ce produit utilise l'API TMDB mais n'est ni approuvé ni certifié par TMDB. Disponibilités : JustWatch. Programmes TV : XML TV Fr.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Séance — présentation</dc:title>
  <dc:subject>PptxGenJS Presentation</dc:subject>
  <dc:creator>Patrick</dc:creator>
  <cp:lastModifiedBy>Patrick</cp:lastModifiedBy>
  <cp:revision>1</cp:revision>
  <dcterms:created xsi:type="dcterms:W3CDTF">2026-09-20T10:49:45Z</dcterms:created>
  <dcterms:modified xsi:type="dcterms:W3CDTF">2026-09-20T10:49:45Z</dcterms:modified>
</cp:coreProperties>
</file>